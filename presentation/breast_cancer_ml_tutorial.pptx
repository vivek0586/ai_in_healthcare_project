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bd2f1713e934d25" /><Relationship Type="http://schemas.openxmlformats.org/officeDocument/2006/relationships/extended-properties" Target="/docProps/app.xml" Id="R48aeea8b13a146ab" /><Relationship Type="http://schemas.openxmlformats.org/officeDocument/2006/relationships/officeDocument" Target="/ppt/presentation.xml" Id="R00facc2f565549da" /></Relationships>
</file>

<file path=ppt/presentation.xml><?xml version="1.0" encoding="utf-8"?>
<p:presentation xmlns:p="http://schemas.openxmlformats.org/presentationml/2006/main">
  <p:sldMasterIdLst>
    <p:sldMasterId xmlns:r="http://schemas.openxmlformats.org/officeDocument/2006/relationships" id="2147483648" r:id="Rf91c0b33e2524458"/>
  </p:sldMasterIdLst>
  <p:notesMasterIdLst>
    <p:notesMasterId xmlns:r="http://schemas.openxmlformats.org/officeDocument/2006/relationships" r:id="R18429baf569640b5"/>
  </p:notesMasterIdLst>
  <p:sldIdLst>
    <p:sldId xmlns:r="http://schemas.openxmlformats.org/officeDocument/2006/relationships" id="256" r:id="R73d085ca283e435b"/>
    <p:sldId xmlns:r="http://schemas.openxmlformats.org/officeDocument/2006/relationships" id="257" r:id="R7cc12d88292849ec"/>
    <p:sldId xmlns:r="http://schemas.openxmlformats.org/officeDocument/2006/relationships" id="258" r:id="R78868663dbbe41ea"/>
    <p:sldId xmlns:r="http://schemas.openxmlformats.org/officeDocument/2006/relationships" id="259" r:id="Rabdafeb7bb9a41c0"/>
    <p:sldId xmlns:r="http://schemas.openxmlformats.org/officeDocument/2006/relationships" id="260" r:id="R4271951550064dfb"/>
    <p:sldId xmlns:r="http://schemas.openxmlformats.org/officeDocument/2006/relationships" id="261" r:id="Rd19461b6317f40f4"/>
    <p:sldId xmlns:r="http://schemas.openxmlformats.org/officeDocument/2006/relationships" id="262" r:id="Rb918936e5abc427a"/>
    <p:sldId xmlns:r="http://schemas.openxmlformats.org/officeDocument/2006/relationships" id="263" r:id="Ra73dca7adb254dec"/>
    <p:sldId xmlns:r="http://schemas.openxmlformats.org/officeDocument/2006/relationships" id="264" r:id="R457118e6c9c54064"/>
    <p:sldId xmlns:r="http://schemas.openxmlformats.org/officeDocument/2006/relationships" id="265" r:id="R58c7a487b09b4fdb"/>
    <p:sldId xmlns:r="http://schemas.openxmlformats.org/officeDocument/2006/relationships" id="266" r:id="Rce070e99ccf3440f"/>
    <p:sldId xmlns:r="http://schemas.openxmlformats.org/officeDocument/2006/relationships" id="267" r:id="Rf4e63e96abc24ad5"/>
    <p:sldId xmlns:r="http://schemas.openxmlformats.org/officeDocument/2006/relationships" id="268" r:id="R5dcf86268be44fb9"/>
    <p:sldId xmlns:r="http://schemas.openxmlformats.org/officeDocument/2006/relationships" id="269" r:id="R584170ed35a14fed"/>
    <p:sldId xmlns:r="http://schemas.openxmlformats.org/officeDocument/2006/relationships" id="270" r:id="R296e600854194163"/>
    <p:sldId xmlns:r="http://schemas.openxmlformats.org/officeDocument/2006/relationships" id="271" r:id="R020d8f59eb124ae2"/>
    <p:sldId xmlns:r="http://schemas.openxmlformats.org/officeDocument/2006/relationships" id="272" r:id="R6cc2123a2b404514"/>
    <p:sldId xmlns:r="http://schemas.openxmlformats.org/officeDocument/2006/relationships" id="273" r:id="Rdcb175a4b4124e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d55bdec61248c3" /><Relationship Type="http://schemas.openxmlformats.org/officeDocument/2006/relationships/slideMaster" Target="/ppt/slideMasters/slideMaster1.xml" Id="Rf91c0b33e2524458" /><Relationship Type="http://schemas.openxmlformats.org/officeDocument/2006/relationships/notesMaster" Target="/ppt/notesMasters/notesMaster1.xml" Id="R18429baf569640b5" /><Relationship Type="http://schemas.openxmlformats.org/officeDocument/2006/relationships/presProps" Target="/ppt/presProps.xml" Id="Rb54a7d9c36524850" /><Relationship Type="http://schemas.openxmlformats.org/officeDocument/2006/relationships/tableStyles" Target="/ppt/tableStyles.xml" Id="R1ded0aaa7bd94199" /><Relationship Type="http://schemas.openxmlformats.org/officeDocument/2006/relationships/slide" Target="/ppt/slides/slide1.xml" Id="R73d085ca283e435b" /><Relationship Type="http://schemas.openxmlformats.org/officeDocument/2006/relationships/slide" Target="/ppt/slides/slide2.xml" Id="R7cc12d88292849ec" /><Relationship Type="http://schemas.openxmlformats.org/officeDocument/2006/relationships/slide" Target="/ppt/slides/slide3.xml" Id="R78868663dbbe41ea" /><Relationship Type="http://schemas.openxmlformats.org/officeDocument/2006/relationships/slide" Target="/ppt/slides/slide4.xml" Id="Rabdafeb7bb9a41c0" /><Relationship Type="http://schemas.openxmlformats.org/officeDocument/2006/relationships/slide" Target="/ppt/slides/slide5.xml" Id="R4271951550064dfb" /><Relationship Type="http://schemas.openxmlformats.org/officeDocument/2006/relationships/slide" Target="/ppt/slides/slide6.xml" Id="Rd19461b6317f40f4" /><Relationship Type="http://schemas.openxmlformats.org/officeDocument/2006/relationships/slide" Target="/ppt/slides/slide7.xml" Id="Rb918936e5abc427a" /><Relationship Type="http://schemas.openxmlformats.org/officeDocument/2006/relationships/slide" Target="/ppt/slides/slide8.xml" Id="Ra73dca7adb254dec" /><Relationship Type="http://schemas.openxmlformats.org/officeDocument/2006/relationships/slide" Target="/ppt/slides/slide9.xml" Id="R457118e6c9c54064" /><Relationship Type="http://schemas.openxmlformats.org/officeDocument/2006/relationships/slide" Target="/ppt/slides/slide10.xml" Id="R58c7a487b09b4fdb" /><Relationship Type="http://schemas.openxmlformats.org/officeDocument/2006/relationships/slide" Target="/ppt/slides/slide11.xml" Id="Rce070e99ccf3440f" /><Relationship Type="http://schemas.openxmlformats.org/officeDocument/2006/relationships/slide" Target="/ppt/slides/slide12.xml" Id="Rf4e63e96abc24ad5" /><Relationship Type="http://schemas.openxmlformats.org/officeDocument/2006/relationships/slide" Target="/ppt/slides/slide13.xml" Id="R5dcf86268be44fb9" /><Relationship Type="http://schemas.openxmlformats.org/officeDocument/2006/relationships/slide" Target="/ppt/slides/slide14.xml" Id="R584170ed35a14fed" /><Relationship Type="http://schemas.openxmlformats.org/officeDocument/2006/relationships/slide" Target="/ppt/slides/slide15.xml" Id="R296e600854194163" /><Relationship Type="http://schemas.openxmlformats.org/officeDocument/2006/relationships/slide" Target="/ppt/slides/slide16.xml" Id="R020d8f59eb124ae2" /><Relationship Type="http://schemas.openxmlformats.org/officeDocument/2006/relationships/slide" Target="/ppt/slides/slide17.xml" Id="R6cc2123a2b404514" /><Relationship Type="http://schemas.openxmlformats.org/officeDocument/2006/relationships/slide" Target="/ppt/slides/slide18.xml" Id="Rdcb175a4b4124e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1eed12359c44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7bbaecfe1148ea" /><Relationship Type="http://schemas.openxmlformats.org/officeDocument/2006/relationships/notesMaster" Target="/ppt/notesMasters/notesMaster1.xml" Id="R0dac4474a03948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83a8d6155147b6" /><Relationship Type="http://schemas.openxmlformats.org/officeDocument/2006/relationships/notesMaster" Target="/ppt/notesMasters/notesMaster1.xml" Id="R05845c15fd5b43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9f020dace44a00" /><Relationship Type="http://schemas.openxmlformats.org/officeDocument/2006/relationships/notesMaster" Target="/ppt/notesMasters/notesMaster1.xml" Id="R091e5006e42147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1b9e8639664040" /><Relationship Type="http://schemas.openxmlformats.org/officeDocument/2006/relationships/notesMaster" Target="/ppt/notesMasters/notesMaster1.xml" Id="R8aa85e8bd5a34b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c73e7e92c0417a" /><Relationship Type="http://schemas.openxmlformats.org/officeDocument/2006/relationships/notesMaster" Target="/ppt/notesMasters/notesMaster1.xml" Id="R9414598c720641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f7db4212c54928" /><Relationship Type="http://schemas.openxmlformats.org/officeDocument/2006/relationships/notesMaster" Target="/ppt/notesMasters/notesMaster1.xml" Id="R466910040e5846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b0277a1aa94ec5" /><Relationship Type="http://schemas.openxmlformats.org/officeDocument/2006/relationships/notesMaster" Target="/ppt/notesMasters/notesMaster1.xml" Id="R5156548985d149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57bb2650f84e56" /><Relationship Type="http://schemas.openxmlformats.org/officeDocument/2006/relationships/notesMaster" Target="/ppt/notesMasters/notesMaster1.xml" Id="Rc90de68ab07c4b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ff072ae47c4974" /><Relationship Type="http://schemas.openxmlformats.org/officeDocument/2006/relationships/notesMaster" Target="/ppt/notesMasters/notesMaster1.xml" Id="R8f253ac4b66a45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9b264849774a69" /><Relationship Type="http://schemas.openxmlformats.org/officeDocument/2006/relationships/notesMaster" Target="/ppt/notesMasters/notesMaster1.xml" Id="R62846a53ec0a45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708a2a82aa4e9d" /><Relationship Type="http://schemas.openxmlformats.org/officeDocument/2006/relationships/notesMaster" Target="/ppt/notesMasters/notesMaster1.xml" Id="R9c074a3850e846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083f21f47f4ebc" /><Relationship Type="http://schemas.openxmlformats.org/officeDocument/2006/relationships/notesMaster" Target="/ppt/notesMasters/notesMaster1.xml" Id="R79194db613544f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154d118cdc48aa" /><Relationship Type="http://schemas.openxmlformats.org/officeDocument/2006/relationships/notesMaster" Target="/ppt/notesMasters/notesMaster1.xml" Id="R962cb133c0d24f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34dc30643f4164" /><Relationship Type="http://schemas.openxmlformats.org/officeDocument/2006/relationships/notesMaster" Target="/ppt/notesMasters/notesMaster1.xml" Id="Rc3dd399866cb4e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64a54333e1470d" /><Relationship Type="http://schemas.openxmlformats.org/officeDocument/2006/relationships/notesMaster" Target="/ppt/notesMasters/notesMaster1.xml" Id="R9d1e6a805b5547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ce2e63d3bb400f" /><Relationship Type="http://schemas.openxmlformats.org/officeDocument/2006/relationships/notesMaster" Target="/ppt/notesMasters/notesMaster1.xml" Id="R896a5875625549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dbb8d742da41a6" /><Relationship Type="http://schemas.openxmlformats.org/officeDocument/2006/relationships/notesMaster" Target="/ppt/notesMasters/notesMaster1.xml" Id="R59fbe4f4df9a409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630dc1b7f04ff2" /><Relationship Type="http://schemas.openxmlformats.org/officeDocument/2006/relationships/notesMaster" Target="/ppt/notesMasters/notesMaster1.xml" Id="R96017fc4e19a47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lesson builds a small, complete classification workflow that students can run from a laptop. The data are public and bundled with scikit-learn. The example is for teaching machine learning, not for screening or care.</a:t>
            </a:r>
          </a:p>
          <a:p xmlns:a="http://schemas.openxmlformats.org/drawingml/2006/main">
            <a:r>
              <a:t/>
            </a:r>
          </a:p>
          <a:p xmlns:a="http://schemas.openxmlformats.org/drawingml/2006/main">
            <a:r>
              <a:t>Code notebook and project: https://github.com/vivek0586/AI_In_Healthcare_Project/blob/main/notebooks/breast_cancer_tutorial.ipynb</a:t>
            </a:r>
          </a:p>
          <a:p xmlns:a="http://schemas.openxmlformats.org/drawingml/2006/main">
            <a:r>
              <a:t>Repository: https://github.com/vivek0586/AI_In_Healthcare_Project</a:t>
            </a:r>
          </a:p>
          <a:p xmlns:a="http://schemas.openxmlformats.org/drawingml/2006/main">
            <a:r>
              <a:t/>
            </a:r>
          </a:p>
          <a:p xmlns:a="http://schemas.openxmlformats.org/drawingml/2006/main">
            <a:r>
              <a:t>If the repository branch or path changes after publishing, update these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group to name the inputs and output before discussing algorithms. The benchmark records whether a sampled tumor is benign or malignant. This is classification of an existing label, not forecasting future cancer and not screening a general population. Reinforce that the model is an educational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each row is a sample, and each of the 30 columns is a real-valued measurement. The feature family includes mean, standard error, and worst values across cell-nucleus properties. The class counts are imbalanced, so we preserve the proportions with stratified splitting. The copy is included in scikit-learn and requires no patient-data credentials.</a:t>
            </a:r>
          </a:p>
          <a:p xmlns:a="http://schemas.openxmlformats.org/drawingml/2006/main">
            <a:r>
              <a:t/>
            </a:r>
          </a:p>
          <a:p xmlns:a="http://schemas.openxmlformats.org/drawingml/2006/main">
            <a:r>
              <a:t>Sources:</a:t>
            </a:r>
          </a:p>
          <a:p xmlns:a="http://schemas.openxmlformats.org/drawingml/2006/main">
            <a:r>
              <a:t>scikit-learn dataset reference: https://scikit-learn.org/stable/modules/generated/sklearn.datasets.load_breast_cancer.html</a:t>
            </a:r>
          </a:p>
          <a:p xmlns:a="http://schemas.openxmlformats.org/drawingml/2006/main">
            <a:r>
              <a:t>UCI dataset record: https://archive.ics.uci.edu/dataset/17/breast+cancer+wisconsin+diagnostic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Scikit-learn encodes benign as 1 and malignant as 0. The tutorial deliberately reverses that encoding so positive means malignant. This makes the word sensitivity easy to explain: among truly malignant test samples, how many did the model flag? Ask learners what would become confusing if they encoded labels without checking the dataset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a stratified 80/20 split with random_state 42. Stratification keeps the class ratio similar, while the seed makes the partition repeatable. The 455 training samples are used to fit the scaler and classifier; the 114 test samples are used once for the final evaluation. Point out that a fixed seed does not remove the uncertainty caused by a small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StandardScaler puts features on comparable scales. It estimates means and standard deviations from the training set only, because it sits inside the pipeline. Logistic regression is our deliberately simple baseline. Avoid claiming it is clinically interpretable just because it has coefficients; correlated features complicate coefficient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these numbers as one fixed held-out split, not as a guaranteed rate in clinical settings. Accuracy is 110 of 114. Sensitivity is 39 of 42 malignant samples. Specificity is 71 of 72 benign samples. Precision depends on the case mix and is not automatically transferable to a population with a different prevalence. AUC summarizes ranking across thresholds; it does not select a safe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matrix row by row. Of 72 benign samples, one was flagged malignant. Of 42 malignant samples, three were missed at the fixed threshold. In a real application, the relative harm and downstream consequences of each error would need clinical and operational study. Do not choose a threshold by maximizing a metric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standardizes measurements and the fitted logistic regression assigns a weight to each scaled feature. The coefficients.csv file lists those weights for discussion. Their magnitude and sign are conditional on the model, the other features, and their correlations. They do not show that changing a measurement causes a diagnosis, and they should not be presented as a clinical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direct about the evidence gap. This sample-level benchmark does not test data from another hospital, changes in imaging equipment, calibration, subgroup fairness, workflow effects, or patient outcomes. A genuine clinical model would need carefully designed external and prospective validation, clinical input, monitoring, governance, and regulatory review as appropriate. This class exercise has none of those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students to clone the linked repository, install requirements, and run the script twice. The replication audit in the project records two byte-identical metrics files in the current environment. Ask learners to change the random seed, inspect metric movement, and explain why repeatability of code is different from external validity.</a:t>
            </a:r>
          </a:p>
          <a:p xmlns:a="http://schemas.openxmlformats.org/drawingml/2006/main">
            <a:r>
              <a:t/>
            </a:r>
          </a:p>
          <a:p xmlns:a="http://schemas.openxmlformats.org/drawingml/2006/main">
            <a:r>
              <a:t>Project: https://github.com/vivek0586/AI_In_Healthcare_Project</a:t>
            </a:r>
          </a:p>
          <a:p xmlns:a="http://schemas.openxmlformats.org/drawingml/2006/main">
            <a:r>
              <a:t>Dataset source: https://archive.ics.uci.edu/dataset/17/breast+cancer+wisconsin+diagnostic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feature names describe image-derived nucleus measurements. For example, mean radius is the average distance from the nucleus center to its perimeter; mean texture summarizes variation in grayscale intensity. Each of the ten base properties has mean, standard-error, and worst variants, making 30 columns. In this dataset, worst refers to the largest or most extreme measured value in that group; it does not mean the patient's clinical outcome was worst. These are not ordinary EHR variables.</a:t>
            </a:r>
          </a:p>
          <a:p xmlns:a="http://schemas.openxmlformats.org/drawingml/2006/main">
            <a:r>
              <a:t/>
            </a:r>
          </a:p>
          <a:p xmlns:a="http://schemas.openxmlformats.org/drawingml/2006/main">
            <a:r>
              <a:t>Source: scikit-learn dataset documentation, https://scikit-learn.org/stable/modules/generated/sklearn.datasets.load_breast_cancer.html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code from top to bottom. X is the 569-by-30 feature table. Scikit-learn's target encoding is benign=1, malignant=0; we look up the string label rather than assume an index, then recode malignant as 1. Ask learners to predict what the positive class means before they run the next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happens before the scaler is fitted. Stratification maintains the class proportions, and random_state makes the split repeatable. StandardScaler learns its means and standard deviations from training rows only because it is the first stage of the Pipeline. Logistic regression is then fitted on the scaled training set. The test rows remain untouched until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predict_proba returns a malignant-class probability because malignant was explicitly coded as 1. The 0.50 cutoff turns a score into a class label. The matrix ordering is fixed as labels [0,1], so it reads true negatives, false positives, false negatives, then true positives. A threshold is a decision choice; 0.50 is only a teaching default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confusion matrix horizontally by true class. The model correctly classified 71 benign samples and flagged one benign sample; it correctly detected 39 of 42 malignant samples and missed three. The scatter chart is an editable ROC curve computed from the 114 held-out probability scores, not from training predictions. AUC 0.996 describes ranking on this one split, not clinical readiness or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five largest absolute standardized logistic-regression coefficients from the fitted training model. Positive weights push the fitted model's log-odds toward malignant; negative weights push away, conditional on the other features. Correlated predictors can make weights unstable or hard to interpret. The chart is descriptive of this fit, not causal and not a substitute for clinical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five minutes to edit the threshold in the supplied predictions table without refitting the model. Ask what moves and what stays fixed. Suggested answer using this exact held-out split: threshold .25 gives TN=71, FP=1, FN=1, TP=41; .50 gives 71, 1, 3, 39; .75 gives 72, 0, 4, 38. Lowering the threshold reduces false negatives here but does not prove that .25 is clinically better. Thresholds require an explicit decision context and validation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bab1ce72b747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3b213f21484ba1" /><Relationship Type="http://schemas.openxmlformats.org/officeDocument/2006/relationships/slideLayout" Target="/ppt/slideLayouts/slideLayout1.xml" Id="Rad6ecdfaf7814f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6ecdfaf7814f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c1b1aae43c45cb" /><Relationship Type="http://schemas.openxmlformats.org/officeDocument/2006/relationships/notesSlide" Target="/ppt/notesSlides/notesSlide1.xml" Id="Rf0ea5af320f94d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b7c75798be437c" /><Relationship Type="http://schemas.openxmlformats.org/officeDocument/2006/relationships/notesSlide" Target="/ppt/notesSlides/notesSlide2.xml" Id="R4c60ad53e79c40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d9727583664078" /><Relationship Type="http://schemas.openxmlformats.org/officeDocument/2006/relationships/notesSlide" Target="/ppt/notesSlides/notesSlide3.xml" Id="R4fbdc7bcc89643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57ef7674f14a68" /><Relationship Type="http://schemas.openxmlformats.org/officeDocument/2006/relationships/notesSlide" Target="/ppt/notesSlides/notesSlide4.xml" Id="Rc97691c3ca9748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753828153d4465" /><Relationship Type="http://schemas.openxmlformats.org/officeDocument/2006/relationships/notesSlide" Target="/ppt/notesSlides/notesSlide5.xml" Id="Ra673a86711034c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abd7a178224998" /><Relationship Type="http://schemas.openxmlformats.org/officeDocument/2006/relationships/notesSlide" Target="/ppt/notesSlides/notesSlide6.xml" Id="R50c69f987d4545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1544d3197a4303" /><Relationship Type="http://schemas.openxmlformats.org/officeDocument/2006/relationships/notesSlide" Target="/ppt/notesSlides/notesSlide7.xml" Id="R0834e59588a743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d2706dcc4f426b" /><Relationship Type="http://schemas.openxmlformats.org/officeDocument/2006/relationships/notesSlide" Target="/ppt/notesSlides/notesSlide8.xml" Id="R6d90cb80f0c642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0be6fafa484306" /><Relationship Type="http://schemas.openxmlformats.org/officeDocument/2006/relationships/notesSlide" Target="/ppt/notesSlides/notesSlide9.xml" Id="Ra3a2191f123a4f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1ec999d68445f6" /><Relationship Type="http://schemas.openxmlformats.org/officeDocument/2006/relationships/notesSlide" Target="/ppt/notesSlides/notesSlide10.xml" Id="R0653095167944f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9f1b08b3fe4761" /><Relationship Type="http://schemas.openxmlformats.org/officeDocument/2006/relationships/notesSlide" Target="/ppt/notesSlides/notesSlide11.xml" Id="R58c0025b5ff540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ce9bcba735402b" /><Relationship Type="http://schemas.openxmlformats.org/officeDocument/2006/relationships/notesSlide" Target="/ppt/notesSlides/notesSlide12.xml" Id="Ree6cbc1602fe4e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2ecf5880cf4fdf" /><Relationship Type="http://schemas.openxmlformats.org/officeDocument/2006/relationships/notesSlide" Target="/ppt/notesSlides/notesSlide13.xml" Id="R16989fe64f4241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17c10a57934c4f" /><Relationship Type="http://schemas.openxmlformats.org/officeDocument/2006/relationships/notesSlide" Target="/ppt/notesSlides/notesSlide14.xml" Id="R331992a9c95442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f49bbf4ede74912" /><Relationship Type="http://schemas.openxmlformats.org/officeDocument/2006/relationships/notesSlide" Target="/ppt/notesSlides/notesSlide15.xml" Id="Rf676161630ac47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ca38d4313c4546" /><Relationship Type="http://schemas.openxmlformats.org/officeDocument/2006/relationships/chart" Target="/ppt/slides/charts/chart1.xml" Id="R684d15370806498f" /><Relationship Type="http://schemas.openxmlformats.org/officeDocument/2006/relationships/notesSlide" Target="/ppt/notesSlides/notesSlide16.xml" Id="R59556be24efd47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36650e5af4b4ee2" /><Relationship Type="http://schemas.openxmlformats.org/officeDocument/2006/relationships/chart" Target="/ppt/slides/charts/chart2.xml" Id="R6e0810a9d0b3422f" /><Relationship Type="http://schemas.openxmlformats.org/officeDocument/2006/relationships/notesSlide" Target="/ppt/notesSlides/notesSlide17.xml" Id="Rb7dfa09edd2c4b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a6f59ccb9ab417f" /><Relationship Type="http://schemas.openxmlformats.org/officeDocument/2006/relationships/notesSlide" Target="/ppt/notesSlides/notesSlide18.xml" Id="R125bad0444ef4c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Logistic regression</c:v>
          </c:tx>
          <c:spPr>
            <a:ln xmlns:a="http://schemas.openxmlformats.org/drawingml/2006/main" w="28575">
              <a:solidFill>
                <a:srgbClr val="167C80"/>
              </a:solidFill>
              <a:prstDash val="solid"/>
            </a:ln>
          </c:spPr>
          <c:marker>
            <c:symbol val="none"/>
            <c:size val="2"/>
          </c:marker>
          <c:xVal>
            <c:numRef>
              <c:f>'Chart Data'!$A$2:$A$116</c:f>
              <c:numCache>
                <c:formatCode>General</c:formatCode>
                <c:ptCount val="11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0.013889</c:v>
                </c:pt>
                <c:pt idx="41">
                  <c:v>0.013889</c:v>
                </c:pt>
                <c:pt idx="42">
                  <c:v>0.013889</c:v>
                </c:pt>
                <c:pt idx="43">
                  <c:v>0.027778</c:v>
                </c:pt>
                <c:pt idx="44">
                  <c:v>0.041667</c:v>
                </c:pt>
                <c:pt idx="45">
                  <c:v>0.055556</c:v>
                </c:pt>
                <c:pt idx="46">
                  <c:v>0.069444</c:v>
                </c:pt>
                <c:pt idx="47">
                  <c:v>0.083333</c:v>
                </c:pt>
                <c:pt idx="48">
                  <c:v>0.097222</c:v>
                </c:pt>
                <c:pt idx="49">
                  <c:v>0.111111</c:v>
                </c:pt>
                <c:pt idx="50">
                  <c:v>0.125</c:v>
                </c:pt>
                <c:pt idx="51">
                  <c:v>0.138889</c:v>
                </c:pt>
                <c:pt idx="52">
                  <c:v>0.138889</c:v>
                </c:pt>
                <c:pt idx="53">
                  <c:v>0.152778</c:v>
                </c:pt>
                <c:pt idx="54">
                  <c:v>0.166667</c:v>
                </c:pt>
                <c:pt idx="55">
                  <c:v>0.180556</c:v>
                </c:pt>
                <c:pt idx="56">
                  <c:v>0.194444</c:v>
                </c:pt>
                <c:pt idx="57">
                  <c:v>0.208333</c:v>
                </c:pt>
                <c:pt idx="58">
                  <c:v>0.222222</c:v>
                </c:pt>
                <c:pt idx="59">
                  <c:v>0.236111</c:v>
                </c:pt>
                <c:pt idx="60">
                  <c:v>0.25</c:v>
                </c:pt>
                <c:pt idx="61">
                  <c:v>0.263889</c:v>
                </c:pt>
                <c:pt idx="62">
                  <c:v>0.277778</c:v>
                </c:pt>
                <c:pt idx="63">
                  <c:v>0.291667</c:v>
                </c:pt>
                <c:pt idx="64">
                  <c:v>0.305556</c:v>
                </c:pt>
                <c:pt idx="65">
                  <c:v>0.319444</c:v>
                </c:pt>
                <c:pt idx="66">
                  <c:v>0.333333</c:v>
                </c:pt>
                <c:pt idx="67">
                  <c:v>0.347222</c:v>
                </c:pt>
                <c:pt idx="68">
                  <c:v>0.361111</c:v>
                </c:pt>
                <c:pt idx="69">
                  <c:v>0.375</c:v>
                </c:pt>
                <c:pt idx="70">
                  <c:v>0.388889</c:v>
                </c:pt>
                <c:pt idx="71">
                  <c:v>0.402778</c:v>
                </c:pt>
                <c:pt idx="72">
                  <c:v>0.416667</c:v>
                </c:pt>
                <c:pt idx="73">
                  <c:v>0.430556</c:v>
                </c:pt>
                <c:pt idx="74">
                  <c:v>0.444444</c:v>
                </c:pt>
                <c:pt idx="75">
                  <c:v>0.458333</c:v>
                </c:pt>
                <c:pt idx="76">
                  <c:v>0.472222</c:v>
                </c:pt>
                <c:pt idx="77">
                  <c:v>0.486111</c:v>
                </c:pt>
                <c:pt idx="78">
                  <c:v>0.5</c:v>
                </c:pt>
                <c:pt idx="79">
                  <c:v>0.513889</c:v>
                </c:pt>
                <c:pt idx="80">
                  <c:v>0.527778</c:v>
                </c:pt>
                <c:pt idx="81">
                  <c:v>0.541667</c:v>
                </c:pt>
                <c:pt idx="82">
                  <c:v>0.555556</c:v>
                </c:pt>
                <c:pt idx="83">
                  <c:v>0.569444</c:v>
                </c:pt>
                <c:pt idx="84">
                  <c:v>0.583333</c:v>
                </c:pt>
                <c:pt idx="85">
                  <c:v>0.597222</c:v>
                </c:pt>
                <c:pt idx="86">
                  <c:v>0.611111</c:v>
                </c:pt>
                <c:pt idx="87">
                  <c:v>0.625</c:v>
                </c:pt>
                <c:pt idx="88">
                  <c:v>0.638889</c:v>
                </c:pt>
                <c:pt idx="89">
                  <c:v>0.652778</c:v>
                </c:pt>
                <c:pt idx="90">
                  <c:v>0.666667</c:v>
                </c:pt>
                <c:pt idx="91">
                  <c:v>0.680556</c:v>
                </c:pt>
                <c:pt idx="92">
                  <c:v>0.694444</c:v>
                </c:pt>
                <c:pt idx="93">
                  <c:v>0.708333</c:v>
                </c:pt>
                <c:pt idx="94">
                  <c:v>0.722222</c:v>
                </c:pt>
                <c:pt idx="95">
                  <c:v>0.736111</c:v>
                </c:pt>
                <c:pt idx="96">
                  <c:v>0.75</c:v>
                </c:pt>
                <c:pt idx="97">
                  <c:v>0.763889</c:v>
                </c:pt>
                <c:pt idx="98">
                  <c:v>0.777778</c:v>
                </c:pt>
                <c:pt idx="99">
                  <c:v>0.791667</c:v>
                </c:pt>
                <c:pt idx="100">
                  <c:v>0.805556</c:v>
                </c:pt>
                <c:pt idx="101">
                  <c:v>0.819444</c:v>
                </c:pt>
                <c:pt idx="102">
                  <c:v>0.833333</c:v>
                </c:pt>
                <c:pt idx="103">
                  <c:v>0.847222</c:v>
                </c:pt>
                <c:pt idx="104">
                  <c:v>0.861111</c:v>
                </c:pt>
                <c:pt idx="105">
                  <c:v>0.875</c:v>
                </c:pt>
                <c:pt idx="106">
                  <c:v>0.888889</c:v>
                </c:pt>
                <c:pt idx="107">
                  <c:v>0.902778</c:v>
                </c:pt>
                <c:pt idx="108">
                  <c:v>0.916667</c:v>
                </c:pt>
                <c:pt idx="109">
                  <c:v>0.930556</c:v>
                </c:pt>
                <c:pt idx="110">
                  <c:v>0.944444</c:v>
                </c:pt>
                <c:pt idx="111">
                  <c:v>0.958333</c:v>
                </c:pt>
                <c:pt idx="112">
                  <c:v>0.972222</c:v>
                </c:pt>
                <c:pt idx="113">
                  <c:v>0.986111</c:v>
                </c:pt>
                <c:pt idx="114">
                  <c:v>1</c:v>
                </c:pt>
              </c:numCache>
            </c:numRef>
          </c:xVal>
          <c:yVal>
            <c:numRef>
              <c:f>'Chart Data'!$B$2:$B$116</c:f>
              <c:numCache>
                <c:formatCode>0%</c:formatCode>
                <c:ptCount val="115"/>
                <c:pt idx="0">
                  <c:v>0</c:v>
                </c:pt>
                <c:pt idx="1">
                  <c:v>0.02381</c:v>
                </c:pt>
                <c:pt idx="2">
                  <c:v>0.047619</c:v>
                </c:pt>
                <c:pt idx="3">
                  <c:v>0.071429</c:v>
                </c:pt>
                <c:pt idx="4">
                  <c:v>0.095238</c:v>
                </c:pt>
                <c:pt idx="5">
                  <c:v>0.119048</c:v>
                </c:pt>
                <c:pt idx="6">
                  <c:v>0.142857</c:v>
                </c:pt>
                <c:pt idx="7">
                  <c:v>0.166667</c:v>
                </c:pt>
                <c:pt idx="8">
                  <c:v>0.190476</c:v>
                </c:pt>
                <c:pt idx="9">
                  <c:v>0.214286</c:v>
                </c:pt>
                <c:pt idx="10">
                  <c:v>0.238095</c:v>
                </c:pt>
                <c:pt idx="11">
                  <c:v>0.261905</c:v>
                </c:pt>
                <c:pt idx="12">
                  <c:v>0.285714</c:v>
                </c:pt>
                <c:pt idx="13">
                  <c:v>0.309524</c:v>
                </c:pt>
                <c:pt idx="14">
                  <c:v>0.333333</c:v>
                </c:pt>
                <c:pt idx="15">
                  <c:v>0.357143</c:v>
                </c:pt>
                <c:pt idx="16">
                  <c:v>0.380952</c:v>
                </c:pt>
                <c:pt idx="17">
                  <c:v>0.404762</c:v>
                </c:pt>
                <c:pt idx="18">
                  <c:v>0.428571</c:v>
                </c:pt>
                <c:pt idx="19">
                  <c:v>0.452381</c:v>
                </c:pt>
                <c:pt idx="20">
                  <c:v>0.47619</c:v>
                </c:pt>
                <c:pt idx="21">
                  <c:v>0.5</c:v>
                </c:pt>
                <c:pt idx="22">
                  <c:v>0.52381</c:v>
                </c:pt>
                <c:pt idx="23">
                  <c:v>0.547619</c:v>
                </c:pt>
                <c:pt idx="24">
                  <c:v>0.571429</c:v>
                </c:pt>
                <c:pt idx="25">
                  <c:v>0.595238</c:v>
                </c:pt>
                <c:pt idx="26">
                  <c:v>0.619048</c:v>
                </c:pt>
                <c:pt idx="27">
                  <c:v>0.642857</c:v>
                </c:pt>
                <c:pt idx="28">
                  <c:v>0.666667</c:v>
                </c:pt>
                <c:pt idx="29">
                  <c:v>0.690476</c:v>
                </c:pt>
                <c:pt idx="30">
                  <c:v>0.714286</c:v>
                </c:pt>
                <c:pt idx="31">
                  <c:v>0.738095</c:v>
                </c:pt>
                <c:pt idx="32">
                  <c:v>0.761905</c:v>
                </c:pt>
                <c:pt idx="33">
                  <c:v>0.785714</c:v>
                </c:pt>
                <c:pt idx="34">
                  <c:v>0.809524</c:v>
                </c:pt>
                <c:pt idx="35">
                  <c:v>0.833333</c:v>
                </c:pt>
                <c:pt idx="36">
                  <c:v>0.857143</c:v>
                </c:pt>
                <c:pt idx="37">
                  <c:v>0.880952</c:v>
                </c:pt>
                <c:pt idx="38">
                  <c:v>0.904762</c:v>
                </c:pt>
                <c:pt idx="39">
                  <c:v>0.928571</c:v>
                </c:pt>
                <c:pt idx="40">
                  <c:v>0.928571</c:v>
                </c:pt>
                <c:pt idx="41">
                  <c:v>0.952381</c:v>
                </c:pt>
                <c:pt idx="42">
                  <c:v>0.97619</c:v>
                </c:pt>
                <c:pt idx="43">
                  <c:v>0.97619</c:v>
                </c:pt>
                <c:pt idx="44">
                  <c:v>0.97619</c:v>
                </c:pt>
                <c:pt idx="45">
                  <c:v>0.97619</c:v>
                </c:pt>
                <c:pt idx="46">
                  <c:v>0.97619</c:v>
                </c:pt>
                <c:pt idx="47">
                  <c:v>0.97619</c:v>
                </c:pt>
                <c:pt idx="48">
                  <c:v>0.97619</c:v>
                </c:pt>
                <c:pt idx="49">
                  <c:v>0.97619</c:v>
                </c:pt>
                <c:pt idx="50">
                  <c:v>0.97619</c:v>
                </c:pt>
                <c:pt idx="51">
                  <c:v>0.97619</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numCache>
            </c:numRef>
          </c:yVal>
        </c:ser>
        <c:ser>
          <c:idx val="1"/>
          <c:order val="1"/>
          <c:tx>
            <c:v>Chance</c:v>
          </c:tx>
          <c:spPr>
            <a:ln xmlns:a="http://schemas.openxmlformats.org/drawingml/2006/main" w="14288">
              <a:solidFill>
                <a:srgbClr val="88969A"/>
              </a:solidFill>
              <a:prstDash val="dash"/>
            </a:ln>
          </c:spPr>
          <c:marker>
            <c:symbol val="none"/>
            <c:size val="2"/>
          </c:marker>
          <c:xVal>
            <c:numRef>
              <c:f>'Chart Data'!$C$2:$C$3</c:f>
              <c:numCache>
                <c:formatCode>General</c:formatCode>
                <c:ptCount val="2"/>
                <c:pt idx="0">
                  <c:v>0</c:v>
                </c:pt>
                <c:pt idx="1">
                  <c:v>1</c:v>
                </c:pt>
              </c:numCache>
            </c:numRef>
          </c:xVal>
          <c:yVal>
            <c:numRef>
              <c:f>'Chart Data'!$D$2:$D$3</c:f>
              <c:numCache>
                <c:formatCode>0%</c:formatCode>
                <c:ptCount val="2"/>
                <c:pt idx="0">
                  <c:v>0</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6DEDA"/>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Sensitivity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263D4B"/>
                </a:solidFill>
                <a:latin typeface="Arial"/>
                <a:ea typeface="Arial"/>
                <a:cs typeface="Arial"/>
              </a:defRPr>
            </a:pPr>
          </a:p>
        </c:txPr>
        <c:crossAx val="48650112"/>
        <c:majorUnit val="0.2"/>
      </c:valAx>
      <c:valAx>
        <c:axId val="48650112"/>
        <c:scaling>
          <c:orientation val="minMax"/>
          <c:max val="1"/>
          <c:min val="0"/>
        </c:scaling>
        <c:delete val="0"/>
        <c:axPos val="b"/>
        <c:majorGridlines>
          <c:spPr>
            <a:ln xmlns:a="http://schemas.openxmlformats.org/drawingml/2006/main" w="9525">
              <a:solidFill>
                <a:srgbClr val="D6DEDA"/>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False-positive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263D4B"/>
                </a:solidFill>
                <a:latin typeface="Arial"/>
                <a:ea typeface="Arial"/>
                <a:cs typeface="Arial"/>
              </a:defRPr>
            </a:pPr>
          </a:p>
        </c:txPr>
        <c:crossAx val="48672768"/>
        <c:majorUnit val="0.2"/>
      </c:valAx>
      <c:spPr>
        <a:solidFill xmlns:a="http://schemas.openxmlformats.org/drawingml/2006/main">
          <a:srgbClr val="F7F8F5"/>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D4B"/>
              </a:solidFill>
              <a:latin typeface="Arial"/>
              <a:ea typeface="Arial"/>
              <a:cs typeface="Arial"/>
            </a:defRPr>
          </a:pPr>
        </a:p>
      </c:txPr>
    </c:legend>
    <c:plotVisOnly val="1"/>
  </c:chart>
  <c:spPr>
    <a:solidFill xmlns:a="http://schemas.openxmlformats.org/drawingml/2006/main">
      <a:srgbClr val="F7F8F5"/>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Weight</c:v>
          </c:tx>
          <c:spPr>
            <a:solidFill xmlns:a="http://schemas.openxmlformats.org/drawingml/2006/main">
              <a:srgbClr val="167C80"/>
            </a:solidFill>
          </c:spPr>
          <c:cat>
            <c:strRef>
              <c:f>'Chart Data'!$A$2:$A$6</c:f>
              <c:strCache>
                <c:ptCount val="5"/>
                <c:pt idx="0">
                  <c:v>worst texture</c:v>
                </c:pt>
                <c:pt idx="1">
                  <c:v>radius error</c:v>
                </c:pt>
                <c:pt idx="2">
                  <c:v>worst symmetry</c:v>
                </c:pt>
                <c:pt idx="3">
                  <c:v>mean concave points</c:v>
                </c:pt>
                <c:pt idx="4">
                  <c:v>worst concavity</c:v>
                </c:pt>
              </c:strCache>
            </c:strRef>
          </c:cat>
          <c:val>
            <c:numRef>
              <c:f>'Chart Data'!$B$2:$B$6</c:f>
              <c:numCache>
                <c:formatCode>0.000</c:formatCode>
                <c:ptCount val="5"/>
                <c:pt idx="0">
                  <c:v>1.434</c:v>
                </c:pt>
                <c:pt idx="1">
                  <c:v>1.233</c:v>
                </c:pt>
                <c:pt idx="2">
                  <c:v>1.061</c:v>
                </c:pt>
                <c:pt idx="3">
                  <c:v>0.953</c:v>
                </c:pt>
                <c:pt idx="4">
                  <c:v>0.911</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345"/>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6DEDA"/>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Standardized coefficient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263D4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D4B"/>
                </a:solidFill>
                <a:latin typeface="Arial"/>
                <a:ea typeface="Arial"/>
                <a:cs typeface="Arial"/>
              </a:defRPr>
            </a:pPr>
          </a:p>
        </c:txPr>
        <c:crossAx val="48650112"/>
        <c:crossBetween val="between"/>
      </c:valAx>
      <c:spPr>
        <a:solidFill xmlns:a="http://schemas.openxmlformats.org/drawingml/2006/main">
          <a:srgbClr val="F7F8F5"/>
        </a:solidFill>
        <a:ln xmlns:a="http://schemas.openxmlformats.org/drawingml/2006/main" w="0">
          <a:noFill/>
        </a:ln>
      </c:spPr>
    </c:plotArea>
    <c:plotVisOnly val="1"/>
  </c:chart>
  <c:spPr>
    <a:solidFill xmlns:a="http://schemas.openxmlformats.org/drawingml/2006/main">
      <a:srgbClr val="F7F8F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D037D5-7E68-4D62-B169-E53E9BF8AADC}"/>
              </a:ext>
            </a:extLst>
          </p:cNvPr>
          <p:cNvSpPr>
            <a:spLocks xmlns:a="http://schemas.openxmlformats.org/drawingml/2006/main" noGrp="1"/>
          </p:cNvSpPr>
          <p:nvPr/>
        </p:nvSpPr>
        <p:spPr>
          <a:xfrm xmlns:a="http://schemas.openxmlformats.org/drawingml/2006/main">
            <a:off x="876300" y="1762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4350" b="1">
                <a:solidFill>
                  <a:srgbClr val="163345"/>
                </a:solidFill>
                <a:latin typeface="Arial"/>
                <a:ea typeface="Arial"/>
                <a:cs typeface="Arial"/>
              </a:defRPr>
            </a:pPr>
            <a:r>
              <a:rPr sz="4350" b="1">
                <a:solidFill>
                  <a:srgbClr val="163345"/>
                </a:solidFill>
                <a:latin typeface="Arial"/>
                <a:ea typeface="Arial"/>
                <a:cs typeface="Arial"/>
              </a:rPr>
              <a:t>Breast tumor classification</a:t>
            </a:r>
          </a:p>
        </p:txBody>
      </p:sp>
      <p:sp>
        <p:nvSpPr>
          <p:cNvPr id="2" name="">
            <a:extLst xmlns:a="http://schemas.openxmlformats.org/drawingml/2006/main">
              <a:ext uri="{FF2B5EF4-FFF2-40B4-BE49-F238E27FC236}">
                <a16:creationId xmlns:a16="http://schemas.microsoft.com/office/drawing/2014/main" id="{A1EA10BB-2881-4241-8B7A-D016DC8E2E91}"/>
              </a:ext>
            </a:extLst>
          </p:cNvPr>
          <p:cNvSpPr>
            <a:spLocks xmlns:a="http://schemas.openxmlformats.org/drawingml/2006/main" noGrp="1"/>
          </p:cNvSpPr>
          <p:nvPr/>
        </p:nvSpPr>
        <p:spPr>
          <a:xfrm xmlns:a="http://schemas.openxmlformats.org/drawingml/2006/main">
            <a:off x="914400" y="2762250"/>
            <a:ext cx="923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400" b="0">
                <a:solidFill>
                  <a:srgbClr val="167C80"/>
                </a:solidFill>
                <a:latin typeface="Arial"/>
                <a:ea typeface="Arial"/>
                <a:cs typeface="Arial"/>
              </a:defRPr>
            </a:pPr>
            <a:r>
              <a:rPr sz="2400" b="0">
                <a:solidFill>
                  <a:srgbClr val="167C80"/>
                </a:solidFill>
                <a:latin typeface="Arial"/>
                <a:ea typeface="Arial"/>
                <a:cs typeface="Arial"/>
              </a:rPr>
              <a:t>A student tutorial in logistic regression</a:t>
            </a:r>
          </a:p>
        </p:txBody>
      </p:sp>
      <p:sp>
        <p:nvSpPr>
          <p:cNvPr id="3" name="">
            <a:extLst xmlns:a="http://schemas.openxmlformats.org/drawingml/2006/main">
              <a:ext uri="{FF2B5EF4-FFF2-40B4-BE49-F238E27FC236}">
                <a16:creationId xmlns:a16="http://schemas.microsoft.com/office/drawing/2014/main" id="{9FA55C57-8870-4AF3-90BA-47233A8FCCEF}"/>
              </a:ext>
            </a:extLst>
          </p:cNvPr>
          <p:cNvSpPr>
            <a:spLocks xmlns:a="http://schemas.openxmlformats.org/drawingml/2006/main" noGrp="1"/>
          </p:cNvSpPr>
          <p:nvPr/>
        </p:nvSpPr>
        <p:spPr>
          <a:xfrm xmlns:a="http://schemas.openxmlformats.org/drawingml/2006/main">
            <a:off x="914400" y="361950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75" b="0">
                <a:solidFill>
                  <a:srgbClr val="536A77"/>
                </a:solidFill>
                <a:latin typeface="Arial"/>
                <a:ea typeface="Arial"/>
                <a:cs typeface="Arial"/>
              </a:defRPr>
            </a:pPr>
            <a:r>
              <a:rPr sz="1875" b="0">
                <a:solidFill>
                  <a:srgbClr val="536A77"/>
                </a:solidFill>
                <a:latin typeface="Arial"/>
                <a:ea typeface="Arial"/>
                <a:cs typeface="Arial"/>
              </a:rPr>
              <a:t>Public data  ·  leakage-safe pipeline  ·  careful evaluation</a:t>
            </a:r>
          </a:p>
        </p:txBody>
      </p:sp>
      <p:sp>
        <p:nvSpPr>
          <p:cNvPr id="4" name="">
            <a:extLst xmlns:a="http://schemas.openxmlformats.org/drawingml/2006/main">
              <a:ext uri="{FF2B5EF4-FFF2-40B4-BE49-F238E27FC236}">
                <a16:creationId xmlns:a16="http://schemas.microsoft.com/office/drawing/2014/main" id="{7CB75D0C-1315-426D-B9D0-702B2D2D6776}"/>
              </a:ext>
            </a:extLst>
          </p:cNvPr>
          <p:cNvSpPr>
            <a:spLocks xmlns:a="http://schemas.openxmlformats.org/drawingml/2006/main" noGrp="1"/>
          </p:cNvSpPr>
          <p:nvPr/>
        </p:nvSpPr>
        <p:spPr>
          <a:xfrm xmlns:a="http://schemas.openxmlformats.org/drawingml/2006/main">
            <a:off x="914400" y="509587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B3543C"/>
                </a:solidFill>
                <a:latin typeface="Arial"/>
                <a:ea typeface="Arial"/>
                <a:cs typeface="Arial"/>
              </a:defRPr>
            </a:pPr>
            <a:r>
              <a:rPr sz="1650" b="1">
                <a:solidFill>
                  <a:srgbClr val="B3543C"/>
                </a:solidFill>
                <a:latin typeface="Arial"/>
                <a:ea typeface="Arial"/>
                <a:cs typeface="Arial"/>
              </a:rPr>
              <a:t>Teaching example only — not a clinical model</a:t>
            </a:r>
          </a:p>
        </p:txBody>
      </p:sp>
    </p:spTree>
    <p:extLst>
      <p:ext uri="{BB962C8B-B14F-4D97-AF65-F5344CB8AC3E}">
        <p14:creationId xmlns:p14="http://schemas.microsoft.com/office/powerpoint/2010/main" val="1723102062"/>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12B588-3D04-49E1-B7CD-1DB081043C07}"/>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The learning question</a:t>
            </a:r>
          </a:p>
        </p:txBody>
      </p:sp>
      <p:sp>
        <p:nvSpPr>
          <p:cNvPr id="2" name="">
            <a:extLst xmlns:a="http://schemas.openxmlformats.org/drawingml/2006/main">
              <a:ext uri="{FF2B5EF4-FFF2-40B4-BE49-F238E27FC236}">
                <a16:creationId xmlns:a16="http://schemas.microsoft.com/office/drawing/2014/main" id="{9E371E65-3986-459A-A215-ADB98FCD4330}"/>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7DA8F2A-8FCF-4931-B249-B2CB9461DCE7}"/>
              </a:ext>
            </a:extLst>
          </p:cNvPr>
          <p:cNvSpPr>
            <a:spLocks xmlns:a="http://schemas.openxmlformats.org/drawingml/2006/main" noGrp="1"/>
          </p:cNvSpPr>
          <p:nvPr/>
        </p:nvSpPr>
        <p:spPr>
          <a:xfrm xmlns:a="http://schemas.openxmlformats.org/drawingml/2006/main">
            <a:off x="876300" y="1666875"/>
            <a:ext cx="10001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625" b="1">
                <a:solidFill>
                  <a:srgbClr val="163345"/>
                </a:solidFill>
                <a:latin typeface="Arial"/>
                <a:ea typeface="Arial"/>
                <a:cs typeface="Arial"/>
              </a:defRPr>
            </a:pPr>
            <a:r>
              <a:rPr sz="2625" b="1">
                <a:solidFill>
                  <a:srgbClr val="163345"/>
                </a:solidFill>
                <a:latin typeface="Arial"/>
                <a:ea typeface="Arial"/>
                <a:cs typeface="Arial"/>
              </a:rPr>
              <a:t>Can 30 measurements from a digitized fine-needle aspirate sample distinguish the recorded malignant and benign labels?</a:t>
            </a:r>
          </a:p>
        </p:txBody>
      </p:sp>
      <p:sp>
        <p:nvSpPr>
          <p:cNvPr id="4" name="">
            <a:extLst xmlns:a="http://schemas.openxmlformats.org/drawingml/2006/main">
              <a:ext uri="{FF2B5EF4-FFF2-40B4-BE49-F238E27FC236}">
                <a16:creationId xmlns:a16="http://schemas.microsoft.com/office/drawing/2014/main" id="{3F3272B6-E064-4919-9627-F02799479E4D}"/>
              </a:ext>
            </a:extLst>
          </p:cNvPr>
          <p:cNvSpPr>
            <a:spLocks xmlns:a="http://schemas.openxmlformats.org/drawingml/2006/main" noGrp="1"/>
          </p:cNvSpPr>
          <p:nvPr/>
        </p:nvSpPr>
        <p:spPr>
          <a:xfrm xmlns:a="http://schemas.openxmlformats.org/drawingml/2006/main">
            <a:off x="914400" y="3810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Input  ·  numeric cell-nucleus measurements</a:t>
            </a:r>
          </a:p>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Output  ·  malignant or benign label</a:t>
            </a:r>
          </a:p>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Unit  ·  one sample in the benchmark dataset</a:t>
            </a:r>
          </a:p>
        </p:txBody>
      </p:sp>
    </p:spTree>
    <p:extLst>
      <p:ext uri="{BB962C8B-B14F-4D97-AF65-F5344CB8AC3E}">
        <p14:creationId xmlns:p14="http://schemas.microsoft.com/office/powerpoint/2010/main" val="1102083471"/>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BB1C9F-D05A-41FB-9EFB-8FD4BD76EFC0}"/>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A small, public benchmark</a:t>
            </a:r>
          </a:p>
        </p:txBody>
      </p:sp>
      <p:sp>
        <p:nvSpPr>
          <p:cNvPr id="2" name="">
            <a:extLst xmlns:a="http://schemas.openxmlformats.org/drawingml/2006/main">
              <a:ext uri="{FF2B5EF4-FFF2-40B4-BE49-F238E27FC236}">
                <a16:creationId xmlns:a16="http://schemas.microsoft.com/office/drawing/2014/main" id="{AFBDC027-F74E-4F71-A79C-947CA72177F5}"/>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80C5D1C-6EAF-4376-8257-3779967AFAB2}"/>
              </a:ext>
            </a:extLst>
          </p:cNvPr>
          <p:cNvSpPr>
            <a:spLocks xmlns:a="http://schemas.openxmlformats.org/drawingml/2006/main" noGrp="1"/>
          </p:cNvSpPr>
          <p:nvPr/>
        </p:nvSpPr>
        <p:spPr>
          <a:xfrm xmlns:a="http://schemas.openxmlformats.org/drawingml/2006/main">
            <a:off x="952500" y="17621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5400" b="1">
                <a:solidFill>
                  <a:srgbClr val="167C80"/>
                </a:solidFill>
                <a:latin typeface="Arial"/>
                <a:ea typeface="Arial"/>
                <a:cs typeface="Arial"/>
              </a:defRPr>
            </a:pPr>
            <a:r>
              <a:rPr sz="5400" b="1">
                <a:solidFill>
                  <a:srgbClr val="167C80"/>
                </a:solidFill>
                <a:latin typeface="Arial"/>
                <a:ea typeface="Arial"/>
                <a:cs typeface="Arial"/>
              </a:rPr>
              <a:t>569</a:t>
            </a:r>
          </a:p>
        </p:txBody>
      </p:sp>
      <p:sp>
        <p:nvSpPr>
          <p:cNvPr id="4" name="">
            <a:extLst xmlns:a="http://schemas.openxmlformats.org/drawingml/2006/main">
              <a:ext uri="{FF2B5EF4-FFF2-40B4-BE49-F238E27FC236}">
                <a16:creationId xmlns:a16="http://schemas.microsoft.com/office/drawing/2014/main" id="{46E723CD-0166-49F5-847A-19F5E3D2F98C}"/>
              </a:ext>
            </a:extLst>
          </p:cNvPr>
          <p:cNvSpPr>
            <a:spLocks xmlns:a="http://schemas.openxmlformats.org/drawingml/2006/main" noGrp="1"/>
          </p:cNvSpPr>
          <p:nvPr/>
        </p:nvSpPr>
        <p:spPr>
          <a:xfrm xmlns:a="http://schemas.openxmlformats.org/drawingml/2006/main">
            <a:off x="1000125" y="26670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75" b="0">
                <a:solidFill>
                  <a:srgbClr val="536A77"/>
                </a:solidFill>
                <a:latin typeface="Arial"/>
                <a:ea typeface="Arial"/>
                <a:cs typeface="Arial"/>
              </a:defRPr>
            </a:pPr>
            <a:r>
              <a:rPr sz="1875" b="0">
                <a:solidFill>
                  <a:srgbClr val="536A77"/>
                </a:solidFill>
                <a:latin typeface="Arial"/>
                <a:ea typeface="Arial"/>
                <a:cs typeface="Arial"/>
              </a:rPr>
              <a:t>samples</a:t>
            </a:r>
          </a:p>
        </p:txBody>
      </p:sp>
      <p:sp>
        <p:nvSpPr>
          <p:cNvPr id="5" name="">
            <a:extLst xmlns:a="http://schemas.openxmlformats.org/drawingml/2006/main">
              <a:ext uri="{FF2B5EF4-FFF2-40B4-BE49-F238E27FC236}">
                <a16:creationId xmlns:a16="http://schemas.microsoft.com/office/drawing/2014/main" id="{5F0D26A5-0B37-43AE-B130-0A12085EEB2F}"/>
              </a:ext>
            </a:extLst>
          </p:cNvPr>
          <p:cNvSpPr>
            <a:spLocks xmlns:a="http://schemas.openxmlformats.org/drawingml/2006/main" noGrp="1"/>
          </p:cNvSpPr>
          <p:nvPr/>
        </p:nvSpPr>
        <p:spPr>
          <a:xfrm xmlns:a="http://schemas.openxmlformats.org/drawingml/2006/main">
            <a:off x="4381500" y="17621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5400" b="1">
                <a:solidFill>
                  <a:srgbClr val="167C80"/>
                </a:solidFill>
                <a:latin typeface="Arial"/>
                <a:ea typeface="Arial"/>
                <a:cs typeface="Arial"/>
              </a:defRPr>
            </a:pPr>
            <a:r>
              <a:rPr sz="5400" b="1">
                <a:solidFill>
                  <a:srgbClr val="167C80"/>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5A0EFDCA-AF01-4CB2-9C3B-1A875418BB71}"/>
              </a:ext>
            </a:extLst>
          </p:cNvPr>
          <p:cNvSpPr>
            <a:spLocks xmlns:a="http://schemas.openxmlformats.org/drawingml/2006/main" noGrp="1"/>
          </p:cNvSpPr>
          <p:nvPr/>
        </p:nvSpPr>
        <p:spPr>
          <a:xfrm xmlns:a="http://schemas.openxmlformats.org/drawingml/2006/main">
            <a:off x="4429125" y="26670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75" b="0">
                <a:solidFill>
                  <a:srgbClr val="536A77"/>
                </a:solidFill>
                <a:latin typeface="Arial"/>
                <a:ea typeface="Arial"/>
                <a:cs typeface="Arial"/>
              </a:defRPr>
            </a:pPr>
            <a:r>
              <a:rPr sz="1875" b="0">
                <a:solidFill>
                  <a:srgbClr val="536A77"/>
                </a:solidFill>
                <a:latin typeface="Arial"/>
                <a:ea typeface="Arial"/>
                <a:cs typeface="Arial"/>
              </a:rPr>
              <a:t>numeric features</a:t>
            </a:r>
          </a:p>
        </p:txBody>
      </p:sp>
      <p:sp>
        <p:nvSpPr>
          <p:cNvPr id="7" name="">
            <a:extLst xmlns:a="http://schemas.openxmlformats.org/drawingml/2006/main">
              <a:ext uri="{FF2B5EF4-FFF2-40B4-BE49-F238E27FC236}">
                <a16:creationId xmlns:a16="http://schemas.microsoft.com/office/drawing/2014/main" id="{E46A98A8-FF07-4094-A46C-21024F7CA8A8}"/>
              </a:ext>
            </a:extLst>
          </p:cNvPr>
          <p:cNvSpPr>
            <a:spLocks xmlns:a="http://schemas.openxmlformats.org/drawingml/2006/main" noGrp="1"/>
          </p:cNvSpPr>
          <p:nvPr/>
        </p:nvSpPr>
        <p:spPr>
          <a:xfrm xmlns:a="http://schemas.openxmlformats.org/drawingml/2006/main">
            <a:off x="7905750" y="195262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400" b="1">
                <a:solidFill>
                  <a:srgbClr val="163345"/>
                </a:solidFill>
                <a:latin typeface="Arial"/>
                <a:ea typeface="Arial"/>
                <a:cs typeface="Arial"/>
              </a:defRPr>
            </a:pPr>
            <a:r>
              <a:rPr sz="2400" b="1">
                <a:solidFill>
                  <a:srgbClr val="163345"/>
                </a:solidFill>
                <a:latin typeface="Arial"/>
                <a:ea typeface="Arial"/>
                <a:cs typeface="Arial"/>
              </a:rPr>
              <a:t>212 malignant</a:t>
            </a:r>
          </a:p>
          <a:p xmlns:a="http://schemas.openxmlformats.org/drawingml/2006/main">
            <a:pPr>
              <a:buNone/>
              <a:defRPr sz="2400" b="1">
                <a:solidFill>
                  <a:srgbClr val="163345"/>
                </a:solidFill>
                <a:latin typeface="Arial"/>
                <a:ea typeface="Arial"/>
                <a:cs typeface="Arial"/>
              </a:defRPr>
            </a:pPr>
            <a:r>
              <a:rPr sz="2400" b="1">
                <a:solidFill>
                  <a:srgbClr val="163345"/>
                </a:solidFill>
                <a:latin typeface="Arial"/>
                <a:ea typeface="Arial"/>
                <a:cs typeface="Arial"/>
              </a:rPr>
              <a:t>357 benign</a:t>
            </a:r>
          </a:p>
        </p:txBody>
      </p:sp>
      <p:sp>
        <p:nvSpPr>
          <p:cNvPr id="8" name="">
            <a:extLst xmlns:a="http://schemas.openxmlformats.org/drawingml/2006/main">
              <a:ext uri="{FF2B5EF4-FFF2-40B4-BE49-F238E27FC236}">
                <a16:creationId xmlns:a16="http://schemas.microsoft.com/office/drawing/2014/main" id="{7A141745-EF3B-4C4F-88AA-B8C2C6804DDE}"/>
              </a:ext>
            </a:extLst>
          </p:cNvPr>
          <p:cNvSpPr>
            <a:spLocks xmlns:a="http://schemas.openxmlformats.org/drawingml/2006/main" noGrp="1"/>
          </p:cNvSpPr>
          <p:nvPr/>
        </p:nvSpPr>
        <p:spPr>
          <a:xfrm xmlns:a="http://schemas.openxmlformats.org/drawingml/2006/main">
            <a:off x="971550" y="4095750"/>
            <a:ext cx="1004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Derived from digitized images; not routine EHR measurements</a:t>
            </a:r>
          </a:p>
        </p:txBody>
      </p:sp>
    </p:spTree>
    <p:extLst>
      <p:ext uri="{BB962C8B-B14F-4D97-AF65-F5344CB8AC3E}">
        <p14:creationId xmlns:p14="http://schemas.microsoft.com/office/powerpoint/2010/main" val="143250527"/>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B838F2-9F3F-4D94-AA94-D05ECD1371F5}"/>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Define the positive class</a:t>
            </a:r>
          </a:p>
        </p:txBody>
      </p:sp>
      <p:sp>
        <p:nvSpPr>
          <p:cNvPr id="2" name="">
            <a:extLst xmlns:a="http://schemas.openxmlformats.org/drawingml/2006/main">
              <a:ext uri="{FF2B5EF4-FFF2-40B4-BE49-F238E27FC236}">
                <a16:creationId xmlns:a16="http://schemas.microsoft.com/office/drawing/2014/main" id="{3BAE7CD6-5319-4AA4-B749-B5BECC052E0A}"/>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B5A7580-F871-4776-A25B-F2857288E2EC}"/>
              </a:ext>
            </a:extLst>
          </p:cNvPr>
          <p:cNvSpPr>
            <a:spLocks xmlns:a="http://schemas.openxmlformats.org/drawingml/2006/main" noGrp="1"/>
          </p:cNvSpPr>
          <p:nvPr/>
        </p:nvSpPr>
        <p:spPr>
          <a:xfrm xmlns:a="http://schemas.openxmlformats.org/drawingml/2006/main">
            <a:off x="895350" y="1714500"/>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450" b="1">
                <a:solidFill>
                  <a:srgbClr val="167C80"/>
                </a:solidFill>
                <a:latin typeface="Arial"/>
                <a:ea typeface="Arial"/>
                <a:cs typeface="Arial"/>
              </a:defRPr>
            </a:pPr>
            <a:r>
              <a:rPr sz="3450" b="1">
                <a:solidFill>
                  <a:srgbClr val="167C80"/>
                </a:solidFill>
                <a:latin typeface="Arial"/>
                <a:ea typeface="Arial"/>
                <a:cs typeface="Arial"/>
              </a:rPr>
              <a:t>Positive = malignant</a:t>
            </a:r>
          </a:p>
        </p:txBody>
      </p:sp>
      <p:sp>
        <p:nvSpPr>
          <p:cNvPr id="4" name="">
            <a:extLst xmlns:a="http://schemas.openxmlformats.org/drawingml/2006/main">
              <a:ext uri="{FF2B5EF4-FFF2-40B4-BE49-F238E27FC236}">
                <a16:creationId xmlns:a16="http://schemas.microsoft.com/office/drawing/2014/main" id="{B6A5E211-1991-4862-966A-7BA482EF4D4B}"/>
              </a:ext>
            </a:extLst>
          </p:cNvPr>
          <p:cNvSpPr>
            <a:spLocks xmlns:a="http://schemas.openxmlformats.org/drawingml/2006/main" noGrp="1"/>
          </p:cNvSpPr>
          <p:nvPr/>
        </p:nvSpPr>
        <p:spPr>
          <a:xfrm xmlns:a="http://schemas.openxmlformats.org/drawingml/2006/main">
            <a:off x="952500" y="3000375"/>
            <a:ext cx="10001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Recall / sensitivity  →  share of malignant samples detected</a:t>
            </a:r>
          </a:p>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Specificity  →  share of benign samples correctly left negative</a:t>
            </a:r>
          </a:p>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False negative  →  malignant sample predicted benign</a:t>
            </a:r>
          </a:p>
        </p:txBody>
      </p:sp>
    </p:spTree>
    <p:extLst>
      <p:ext uri="{BB962C8B-B14F-4D97-AF65-F5344CB8AC3E}">
        <p14:creationId xmlns:p14="http://schemas.microsoft.com/office/powerpoint/2010/main" val="133188509"/>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043D88-1899-48AF-BA93-F43925EC9D73}"/>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Hold out test data before fitting</a:t>
            </a:r>
          </a:p>
        </p:txBody>
      </p:sp>
      <p:sp>
        <p:nvSpPr>
          <p:cNvPr id="2" name="">
            <a:extLst xmlns:a="http://schemas.openxmlformats.org/drawingml/2006/main">
              <a:ext uri="{FF2B5EF4-FFF2-40B4-BE49-F238E27FC236}">
                <a16:creationId xmlns:a16="http://schemas.microsoft.com/office/drawing/2014/main" id="{C1C58D71-C58F-4D23-B1E1-11A1CFF3FBC6}"/>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D1C9EB2-CE59-4BE2-914E-9C29B729360F}"/>
              </a:ext>
            </a:extLst>
          </p:cNvPr>
          <p:cNvSpPr>
            <a:spLocks xmlns:a="http://schemas.openxmlformats.org/drawingml/2006/main" noGrp="1"/>
          </p:cNvSpPr>
          <p:nvPr/>
        </p:nvSpPr>
        <p:spPr>
          <a:xfrm xmlns:a="http://schemas.openxmlformats.org/drawingml/2006/main">
            <a:off x="914400" y="1666875"/>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700" b="1">
                <a:solidFill>
                  <a:srgbClr val="163345"/>
                </a:solidFill>
                <a:latin typeface="Arial"/>
                <a:ea typeface="Arial"/>
                <a:cs typeface="Arial"/>
              </a:defRPr>
            </a:pPr>
            <a:r>
              <a:rPr sz="2700" b="1">
                <a:solidFill>
                  <a:srgbClr val="163345"/>
                </a:solidFill>
                <a:latin typeface="Arial"/>
                <a:ea typeface="Arial"/>
                <a:cs typeface="Arial"/>
              </a:rPr>
              <a:t>569 labeled samples</a:t>
            </a:r>
          </a:p>
        </p:txBody>
      </p:sp>
      <p:sp>
        <p:nvSpPr>
          <p:cNvPr id="4" name="">
            <a:extLst xmlns:a="http://schemas.openxmlformats.org/drawingml/2006/main">
              <a:ext uri="{FF2B5EF4-FFF2-40B4-BE49-F238E27FC236}">
                <a16:creationId xmlns:a16="http://schemas.microsoft.com/office/drawing/2014/main" id="{C7024483-49D5-4D41-A128-4A1E18337D4B}"/>
              </a:ext>
            </a:extLst>
          </p:cNvPr>
          <p:cNvSpPr>
            <a:spLocks xmlns:a="http://schemas.openxmlformats.org/drawingml/2006/main" noGrp="1"/>
          </p:cNvSpPr>
          <p:nvPr/>
        </p:nvSpPr>
        <p:spPr>
          <a:xfrm xmlns:a="http://schemas.openxmlformats.org/drawingml/2006/main">
            <a:off x="1000125" y="2762250"/>
            <a:ext cx="4619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325" b="1">
                <a:solidFill>
                  <a:srgbClr val="167C80"/>
                </a:solidFill>
                <a:latin typeface="Arial"/>
                <a:ea typeface="Arial"/>
                <a:cs typeface="Arial"/>
              </a:defRPr>
            </a:pPr>
            <a:r>
              <a:rPr sz="2325" b="1">
                <a:solidFill>
                  <a:srgbClr val="167C80"/>
                </a:solidFill>
                <a:latin typeface="Arial"/>
                <a:ea typeface="Arial"/>
                <a:cs typeface="Arial"/>
              </a:rPr>
              <a:t>455 training samples  ·  80%</a:t>
            </a:r>
          </a:p>
        </p:txBody>
      </p:sp>
      <p:sp>
        <p:nvSpPr>
          <p:cNvPr id="5" name="">
            <a:extLst xmlns:a="http://schemas.openxmlformats.org/drawingml/2006/main">
              <a:ext uri="{FF2B5EF4-FFF2-40B4-BE49-F238E27FC236}">
                <a16:creationId xmlns:a16="http://schemas.microsoft.com/office/drawing/2014/main" id="{7E9A164C-DFDE-44D0-B411-06702ECB7912}"/>
              </a:ext>
            </a:extLst>
          </p:cNvPr>
          <p:cNvSpPr>
            <a:spLocks xmlns:a="http://schemas.openxmlformats.org/drawingml/2006/main" noGrp="1"/>
          </p:cNvSpPr>
          <p:nvPr/>
        </p:nvSpPr>
        <p:spPr>
          <a:xfrm xmlns:a="http://schemas.openxmlformats.org/drawingml/2006/main">
            <a:off x="6191250" y="276225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325" b="1">
                <a:solidFill>
                  <a:srgbClr val="167C80"/>
                </a:solidFill>
                <a:latin typeface="Arial"/>
                <a:ea typeface="Arial"/>
                <a:cs typeface="Arial"/>
              </a:defRPr>
            </a:pPr>
            <a:r>
              <a:rPr sz="2325" b="1">
                <a:solidFill>
                  <a:srgbClr val="167C80"/>
                </a:solidFill>
                <a:latin typeface="Arial"/>
                <a:ea typeface="Arial"/>
                <a:cs typeface="Arial"/>
              </a:rPr>
              <a:t>114 held-out samples  ·  20%</a:t>
            </a:r>
          </a:p>
        </p:txBody>
      </p:sp>
      <p:sp>
        <p:nvSpPr>
          <p:cNvPr id="6" name="">
            <a:extLst xmlns:a="http://schemas.openxmlformats.org/drawingml/2006/main">
              <a:ext uri="{FF2B5EF4-FFF2-40B4-BE49-F238E27FC236}">
                <a16:creationId xmlns:a16="http://schemas.microsoft.com/office/drawing/2014/main" id="{2747A7E6-F46E-46C6-BCC6-7B03AA0486B7}"/>
              </a:ext>
            </a:extLst>
          </p:cNvPr>
          <p:cNvSpPr>
            <a:spLocks xmlns:a="http://schemas.openxmlformats.org/drawingml/2006/main" noGrp="1"/>
          </p:cNvSpPr>
          <p:nvPr/>
        </p:nvSpPr>
        <p:spPr>
          <a:xfrm xmlns:a="http://schemas.openxmlformats.org/drawingml/2006/main">
            <a:off x="1000125" y="41910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Split is stratified by class  ·  random seed = 42</a:t>
            </a:r>
          </a:p>
        </p:txBody>
      </p:sp>
    </p:spTree>
    <p:extLst>
      <p:ext uri="{BB962C8B-B14F-4D97-AF65-F5344CB8AC3E}">
        <p14:creationId xmlns:p14="http://schemas.microsoft.com/office/powerpoint/2010/main" val="26771741"/>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C49172-1D1B-4AA8-AC43-7917D2774BFC}"/>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Fit a pipeline without leakage</a:t>
            </a:r>
          </a:p>
        </p:txBody>
      </p:sp>
      <p:sp>
        <p:nvSpPr>
          <p:cNvPr id="2" name="">
            <a:extLst xmlns:a="http://schemas.openxmlformats.org/drawingml/2006/main">
              <a:ext uri="{FF2B5EF4-FFF2-40B4-BE49-F238E27FC236}">
                <a16:creationId xmlns:a16="http://schemas.microsoft.com/office/drawing/2014/main" id="{F81FFF08-A76D-4BF5-844A-87C8182D1A66}"/>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919C039-B41E-49DF-85CD-7E2182A10A51}"/>
              </a:ext>
            </a:extLst>
          </p:cNvPr>
          <p:cNvSpPr>
            <a:spLocks xmlns:a="http://schemas.openxmlformats.org/drawingml/2006/main" noGrp="1"/>
          </p:cNvSpPr>
          <p:nvPr/>
        </p:nvSpPr>
        <p:spPr>
          <a:xfrm xmlns:a="http://schemas.openxmlformats.org/drawingml/2006/main">
            <a:off x="904875" y="1809750"/>
            <a:ext cx="223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63345"/>
                </a:solidFill>
                <a:latin typeface="Arial"/>
                <a:ea typeface="Arial"/>
                <a:cs typeface="Arial"/>
              </a:defRPr>
            </a:pPr>
            <a:r>
              <a:rPr sz="2250" b="1">
                <a:solidFill>
                  <a:srgbClr val="163345"/>
                </a:solidFill>
                <a:latin typeface="Arial"/>
                <a:ea typeface="Arial"/>
                <a:cs typeface="Arial"/>
              </a:rPr>
              <a:t>Training rows</a:t>
            </a:r>
          </a:p>
        </p:txBody>
      </p:sp>
      <p:sp>
        <p:nvSpPr>
          <p:cNvPr id="4" name="">
            <a:extLst xmlns:a="http://schemas.openxmlformats.org/drawingml/2006/main">
              <a:ext uri="{FF2B5EF4-FFF2-40B4-BE49-F238E27FC236}">
                <a16:creationId xmlns:a16="http://schemas.microsoft.com/office/drawing/2014/main" id="{924E11D9-3066-48ED-85E4-BCE71FE20AC6}"/>
              </a:ext>
            </a:extLst>
          </p:cNvPr>
          <p:cNvSpPr>
            <a:spLocks xmlns:a="http://schemas.openxmlformats.org/drawingml/2006/main" noGrp="1"/>
          </p:cNvSpPr>
          <p:nvPr/>
        </p:nvSpPr>
        <p:spPr>
          <a:xfrm xmlns:a="http://schemas.openxmlformats.org/drawingml/2006/main">
            <a:off x="3238500" y="1809750"/>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7C80"/>
                </a:solidFill>
                <a:latin typeface="Arial"/>
                <a:ea typeface="Arial"/>
                <a:cs typeface="Arial"/>
              </a:defRPr>
            </a:pPr>
            <a:r>
              <a:rPr sz="3300" b="1">
                <a:solidFill>
                  <a:srgbClr val="167C80"/>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6EB16228-004F-46AA-AA68-FFD081AB8A99}"/>
              </a:ext>
            </a:extLst>
          </p:cNvPr>
          <p:cNvSpPr>
            <a:spLocks xmlns:a="http://schemas.openxmlformats.org/drawingml/2006/main" noGrp="1"/>
          </p:cNvSpPr>
          <p:nvPr/>
        </p:nvSpPr>
        <p:spPr>
          <a:xfrm xmlns:a="http://schemas.openxmlformats.org/drawingml/2006/main">
            <a:off x="4143375" y="1809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63345"/>
                </a:solidFill>
                <a:latin typeface="Arial"/>
                <a:ea typeface="Arial"/>
                <a:cs typeface="Arial"/>
              </a:defRPr>
            </a:pPr>
            <a:r>
              <a:rPr sz="2250" b="1">
                <a:solidFill>
                  <a:srgbClr val="163345"/>
                </a:solidFill>
                <a:latin typeface="Arial"/>
                <a:ea typeface="Arial"/>
                <a:cs typeface="Arial"/>
              </a:rPr>
              <a:t>Scale</a:t>
            </a:r>
          </a:p>
        </p:txBody>
      </p:sp>
      <p:sp>
        <p:nvSpPr>
          <p:cNvPr id="6" name="">
            <a:extLst xmlns:a="http://schemas.openxmlformats.org/drawingml/2006/main">
              <a:ext uri="{FF2B5EF4-FFF2-40B4-BE49-F238E27FC236}">
                <a16:creationId xmlns:a16="http://schemas.microsoft.com/office/drawing/2014/main" id="{B59074AF-D1D2-4D1B-BAAC-BC4608499798}"/>
              </a:ext>
            </a:extLst>
          </p:cNvPr>
          <p:cNvSpPr>
            <a:spLocks xmlns:a="http://schemas.openxmlformats.org/drawingml/2006/main" noGrp="1"/>
          </p:cNvSpPr>
          <p:nvPr/>
        </p:nvSpPr>
        <p:spPr>
          <a:xfrm xmlns:a="http://schemas.openxmlformats.org/drawingml/2006/main">
            <a:off x="6048375" y="1809750"/>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7C80"/>
                </a:solidFill>
                <a:latin typeface="Arial"/>
                <a:ea typeface="Arial"/>
                <a:cs typeface="Arial"/>
              </a:defRPr>
            </a:pPr>
            <a:r>
              <a:rPr sz="3300" b="1">
                <a:solidFill>
                  <a:srgbClr val="167C80"/>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9870F020-318E-4244-84F4-4ED4554B9857}"/>
              </a:ext>
            </a:extLst>
          </p:cNvPr>
          <p:cNvSpPr>
            <a:spLocks xmlns:a="http://schemas.openxmlformats.org/drawingml/2006/main" noGrp="1"/>
          </p:cNvSpPr>
          <p:nvPr/>
        </p:nvSpPr>
        <p:spPr>
          <a:xfrm xmlns:a="http://schemas.openxmlformats.org/drawingml/2006/main">
            <a:off x="6905625" y="1809750"/>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63345"/>
                </a:solidFill>
                <a:latin typeface="Arial"/>
                <a:ea typeface="Arial"/>
                <a:cs typeface="Arial"/>
              </a:defRPr>
            </a:pPr>
            <a:r>
              <a:rPr sz="2250" b="1">
                <a:solidFill>
                  <a:srgbClr val="163345"/>
                </a:solidFill>
                <a:latin typeface="Arial"/>
                <a:ea typeface="Arial"/>
                <a:cs typeface="Arial"/>
              </a:rPr>
              <a:t>Logistic regression</a:t>
            </a:r>
          </a:p>
        </p:txBody>
      </p:sp>
      <p:sp>
        <p:nvSpPr>
          <p:cNvPr id="8" name="">
            <a:extLst xmlns:a="http://schemas.openxmlformats.org/drawingml/2006/main">
              <a:ext uri="{FF2B5EF4-FFF2-40B4-BE49-F238E27FC236}">
                <a16:creationId xmlns:a16="http://schemas.microsoft.com/office/drawing/2014/main" id="{071A2EDF-59EC-4CA5-869F-6B8CC2DFB6F9}"/>
              </a:ext>
            </a:extLst>
          </p:cNvPr>
          <p:cNvSpPr>
            <a:spLocks xmlns:a="http://schemas.openxmlformats.org/drawingml/2006/main" noGrp="1"/>
          </p:cNvSpPr>
          <p:nvPr/>
        </p:nvSpPr>
        <p:spPr>
          <a:xfrm xmlns:a="http://schemas.openxmlformats.org/drawingml/2006/main">
            <a:off x="952500" y="342900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0">
                <a:solidFill>
                  <a:srgbClr val="263D4B"/>
                </a:solidFill>
                <a:latin typeface="Arial"/>
                <a:ea typeface="Arial"/>
                <a:cs typeface="Arial"/>
              </a:defRPr>
            </a:pPr>
            <a:r>
              <a:rPr sz="2250" b="0">
                <a:solidFill>
                  <a:srgbClr val="263D4B"/>
                </a:solidFill>
                <a:latin typeface="Arial"/>
                <a:ea typeface="Arial"/>
                <a:cs typeface="Arial"/>
              </a:rPr>
              <a:t>Keep scaling inside the Pipeline so test-set information cannot affect preprocessing.</a:t>
            </a:r>
          </a:p>
        </p:txBody>
      </p:sp>
    </p:spTree>
    <p:extLst>
      <p:ext uri="{BB962C8B-B14F-4D97-AF65-F5344CB8AC3E}">
        <p14:creationId xmlns:p14="http://schemas.microsoft.com/office/powerpoint/2010/main" val="523928370"/>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EDA30C-BE8F-45E5-8FF2-EEFC4FC826AB}"/>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Held-out performance at threshold 0.50</a:t>
            </a:r>
          </a:p>
        </p:txBody>
      </p:sp>
      <p:sp>
        <p:nvSpPr>
          <p:cNvPr id="2" name="">
            <a:extLst xmlns:a="http://schemas.openxmlformats.org/drawingml/2006/main">
              <a:ext uri="{FF2B5EF4-FFF2-40B4-BE49-F238E27FC236}">
                <a16:creationId xmlns:a16="http://schemas.microsoft.com/office/drawing/2014/main" id="{E52D39B4-7295-4D64-87B2-CD82EBA200D6}"/>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5EBF80F1-3E3B-4FDB-BA11-FDE32244FE0E}"/>
              </a:ext>
            </a:extLst>
          </p:cNvPr>
          <p:cNvSpPr>
            <a:spLocks xmlns:a="http://schemas.openxmlformats.org/drawingml/2006/main" noGrp="1"/>
          </p:cNvSpPr>
          <p:nvPr/>
        </p:nvSpPr>
        <p:spPr>
          <a:xfrm xmlns:a="http://schemas.openxmlformats.org/drawingml/2006/main">
            <a:off x="1000125" y="17145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536A77"/>
                </a:solidFill>
                <a:latin typeface="Arial"/>
                <a:ea typeface="Arial"/>
                <a:cs typeface="Arial"/>
              </a:defRPr>
            </a:pPr>
            <a:r>
              <a:rPr sz="2025" b="0">
                <a:solidFill>
                  <a:srgbClr val="536A77"/>
                </a:solidFill>
                <a:latin typeface="Arial"/>
                <a:ea typeface="Arial"/>
                <a:cs typeface="Arial"/>
              </a:rPr>
              <a:t>Accuracy</a:t>
            </a:r>
          </a:p>
        </p:txBody>
      </p:sp>
      <p:sp>
        <p:nvSpPr>
          <p:cNvPr id="4" name="">
            <a:extLst xmlns:a="http://schemas.openxmlformats.org/drawingml/2006/main">
              <a:ext uri="{FF2B5EF4-FFF2-40B4-BE49-F238E27FC236}">
                <a16:creationId xmlns:a16="http://schemas.microsoft.com/office/drawing/2014/main" id="{222C6557-E3D9-4E38-B738-DDEED0576AAC}"/>
              </a:ext>
            </a:extLst>
          </p:cNvPr>
          <p:cNvSpPr>
            <a:spLocks xmlns:a="http://schemas.openxmlformats.org/drawingml/2006/main" noGrp="1"/>
          </p:cNvSpPr>
          <p:nvPr/>
        </p:nvSpPr>
        <p:spPr>
          <a:xfrm xmlns:a="http://schemas.openxmlformats.org/drawingml/2006/main">
            <a:off x="4095750" y="166687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150" b="1">
                <a:solidFill>
                  <a:srgbClr val="163345"/>
                </a:solidFill>
                <a:latin typeface="Arial"/>
                <a:ea typeface="Arial"/>
                <a:cs typeface="Arial"/>
              </a:defRPr>
            </a:pPr>
            <a:r>
              <a:rPr sz="3150" b="1">
                <a:solidFill>
                  <a:srgbClr val="163345"/>
                </a:solidFill>
                <a:latin typeface="Arial"/>
                <a:ea typeface="Arial"/>
                <a:cs typeface="Arial"/>
              </a:rPr>
              <a:t>96.5%</a:t>
            </a:r>
          </a:p>
        </p:txBody>
      </p:sp>
      <p:sp>
        <p:nvSpPr>
          <p:cNvPr id="5" name="">
            <a:extLst xmlns:a="http://schemas.openxmlformats.org/drawingml/2006/main">
              <a:ext uri="{FF2B5EF4-FFF2-40B4-BE49-F238E27FC236}">
                <a16:creationId xmlns:a16="http://schemas.microsoft.com/office/drawing/2014/main" id="{511F4DBD-27E8-4CA8-92F3-DE2284D4C055}"/>
              </a:ext>
            </a:extLst>
          </p:cNvPr>
          <p:cNvSpPr>
            <a:spLocks xmlns:a="http://schemas.openxmlformats.org/drawingml/2006/main" noGrp="1"/>
          </p:cNvSpPr>
          <p:nvPr/>
        </p:nvSpPr>
        <p:spPr>
          <a:xfrm xmlns:a="http://schemas.openxmlformats.org/drawingml/2006/main">
            <a:off x="1000125" y="257175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536A77"/>
                </a:solidFill>
                <a:latin typeface="Arial"/>
                <a:ea typeface="Arial"/>
                <a:cs typeface="Arial"/>
              </a:defRPr>
            </a:pPr>
            <a:r>
              <a:rPr sz="2025" b="0">
                <a:solidFill>
                  <a:srgbClr val="536A77"/>
                </a:solidFill>
                <a:latin typeface="Arial"/>
                <a:ea typeface="Arial"/>
                <a:cs typeface="Arial"/>
              </a:rPr>
              <a:t>Sensitivity</a:t>
            </a:r>
          </a:p>
        </p:txBody>
      </p:sp>
      <p:sp>
        <p:nvSpPr>
          <p:cNvPr id="6" name="">
            <a:extLst xmlns:a="http://schemas.openxmlformats.org/drawingml/2006/main">
              <a:ext uri="{FF2B5EF4-FFF2-40B4-BE49-F238E27FC236}">
                <a16:creationId xmlns:a16="http://schemas.microsoft.com/office/drawing/2014/main" id="{CB958969-5292-48B2-8F73-DF397C7D5CE5}"/>
              </a:ext>
            </a:extLst>
          </p:cNvPr>
          <p:cNvSpPr>
            <a:spLocks xmlns:a="http://schemas.openxmlformats.org/drawingml/2006/main" noGrp="1"/>
          </p:cNvSpPr>
          <p:nvPr/>
        </p:nvSpPr>
        <p:spPr>
          <a:xfrm xmlns:a="http://schemas.openxmlformats.org/drawingml/2006/main">
            <a:off x="4095750" y="2524125"/>
            <a:ext cx="619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550" b="1">
                <a:solidFill>
                  <a:srgbClr val="167C80"/>
                </a:solidFill>
                <a:latin typeface="Arial"/>
                <a:ea typeface="Arial"/>
                <a:cs typeface="Arial"/>
              </a:defRPr>
            </a:pPr>
            <a:r>
              <a:rPr sz="2550" b="1">
                <a:solidFill>
                  <a:srgbClr val="167C80"/>
                </a:solidFill>
                <a:latin typeface="Arial"/>
                <a:ea typeface="Arial"/>
                <a:cs typeface="Arial"/>
              </a:rPr>
              <a:t>92.9%  ·  39 / 42 malignant</a:t>
            </a:r>
          </a:p>
        </p:txBody>
      </p:sp>
      <p:sp>
        <p:nvSpPr>
          <p:cNvPr id="7" name="">
            <a:extLst xmlns:a="http://schemas.openxmlformats.org/drawingml/2006/main">
              <a:ext uri="{FF2B5EF4-FFF2-40B4-BE49-F238E27FC236}">
                <a16:creationId xmlns:a16="http://schemas.microsoft.com/office/drawing/2014/main" id="{A5D2DB4C-DD70-40F0-8BE7-7996F113AC7C}"/>
              </a:ext>
            </a:extLst>
          </p:cNvPr>
          <p:cNvSpPr>
            <a:spLocks xmlns:a="http://schemas.openxmlformats.org/drawingml/2006/main" noGrp="1"/>
          </p:cNvSpPr>
          <p:nvPr/>
        </p:nvSpPr>
        <p:spPr>
          <a:xfrm xmlns:a="http://schemas.openxmlformats.org/drawingml/2006/main">
            <a:off x="1000125" y="34290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536A77"/>
                </a:solidFill>
                <a:latin typeface="Arial"/>
                <a:ea typeface="Arial"/>
                <a:cs typeface="Arial"/>
              </a:defRPr>
            </a:pPr>
            <a:r>
              <a:rPr sz="2025" b="0">
                <a:solidFill>
                  <a:srgbClr val="536A77"/>
                </a:solidFill>
                <a:latin typeface="Arial"/>
                <a:ea typeface="Arial"/>
                <a:cs typeface="Arial"/>
              </a:rPr>
              <a:t>Specificity</a:t>
            </a:r>
          </a:p>
        </p:txBody>
      </p:sp>
      <p:sp>
        <p:nvSpPr>
          <p:cNvPr id="8" name="">
            <a:extLst xmlns:a="http://schemas.openxmlformats.org/drawingml/2006/main">
              <a:ext uri="{FF2B5EF4-FFF2-40B4-BE49-F238E27FC236}">
                <a16:creationId xmlns:a16="http://schemas.microsoft.com/office/drawing/2014/main" id="{301FBBF9-DDB4-4855-9DBA-46D9E1059873}"/>
              </a:ext>
            </a:extLst>
          </p:cNvPr>
          <p:cNvSpPr>
            <a:spLocks xmlns:a="http://schemas.openxmlformats.org/drawingml/2006/main" noGrp="1"/>
          </p:cNvSpPr>
          <p:nvPr/>
        </p:nvSpPr>
        <p:spPr>
          <a:xfrm xmlns:a="http://schemas.openxmlformats.org/drawingml/2006/main">
            <a:off x="4095750" y="3381375"/>
            <a:ext cx="619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550" b="1">
                <a:solidFill>
                  <a:srgbClr val="167C80"/>
                </a:solidFill>
                <a:latin typeface="Arial"/>
                <a:ea typeface="Arial"/>
                <a:cs typeface="Arial"/>
              </a:defRPr>
            </a:pPr>
            <a:r>
              <a:rPr sz="2550" b="1">
                <a:solidFill>
                  <a:srgbClr val="167C80"/>
                </a:solidFill>
                <a:latin typeface="Arial"/>
                <a:ea typeface="Arial"/>
                <a:cs typeface="Arial"/>
              </a:rPr>
              <a:t>98.6%  ·  71 / 72 benign</a:t>
            </a:r>
          </a:p>
        </p:txBody>
      </p:sp>
      <p:sp>
        <p:nvSpPr>
          <p:cNvPr id="9" name="">
            <a:extLst xmlns:a="http://schemas.openxmlformats.org/drawingml/2006/main">
              <a:ext uri="{FF2B5EF4-FFF2-40B4-BE49-F238E27FC236}">
                <a16:creationId xmlns:a16="http://schemas.microsoft.com/office/drawing/2014/main" id="{71F8B696-5F19-4321-AEE8-3924A08607DC}"/>
              </a:ext>
            </a:extLst>
          </p:cNvPr>
          <p:cNvSpPr>
            <a:spLocks xmlns:a="http://schemas.openxmlformats.org/drawingml/2006/main" noGrp="1"/>
          </p:cNvSpPr>
          <p:nvPr/>
        </p:nvSpPr>
        <p:spPr>
          <a:xfrm xmlns:a="http://schemas.openxmlformats.org/drawingml/2006/main">
            <a:off x="1000125" y="4524375"/>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950" b="0">
                <a:solidFill>
                  <a:srgbClr val="263D4B"/>
                </a:solidFill>
                <a:latin typeface="Arial"/>
                <a:ea typeface="Arial"/>
                <a:cs typeface="Arial"/>
              </a:defRPr>
            </a:pPr>
            <a:r>
              <a:rPr sz="1950" b="0">
                <a:solidFill>
                  <a:srgbClr val="263D4B"/>
                </a:solidFill>
                <a:latin typeface="Arial"/>
                <a:ea typeface="Arial"/>
                <a:cs typeface="Arial"/>
              </a:rPr>
              <a:t>ROC AUC  0.996  ·  ranks samples across thresholds</a:t>
            </a:r>
          </a:p>
        </p:txBody>
      </p:sp>
    </p:spTree>
    <p:extLst>
      <p:ext uri="{BB962C8B-B14F-4D97-AF65-F5344CB8AC3E}">
        <p14:creationId xmlns:p14="http://schemas.microsoft.com/office/powerpoint/2010/main" val="1456378000"/>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E7DE88-BE00-4C28-8777-F86B0FD0D96F}"/>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Read the errors, not only the score</a:t>
            </a:r>
          </a:p>
        </p:txBody>
      </p:sp>
      <p:sp>
        <p:nvSpPr>
          <p:cNvPr id="2" name="">
            <a:extLst xmlns:a="http://schemas.openxmlformats.org/drawingml/2006/main">
              <a:ext uri="{FF2B5EF4-FFF2-40B4-BE49-F238E27FC236}">
                <a16:creationId xmlns:a16="http://schemas.microsoft.com/office/drawing/2014/main" id="{0E6DBE32-2691-4FD7-BFEA-390C5BDA031B}"/>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1D7CD26-BAD0-4148-A1F1-CC87CD0B0ABA}"/>
              </a:ext>
            </a:extLst>
          </p:cNvPr>
          <p:cNvSpPr>
            <a:spLocks xmlns:a="http://schemas.openxmlformats.org/drawingml/2006/main" noGrp="1"/>
          </p:cNvSpPr>
          <p:nvPr/>
        </p:nvSpPr>
        <p:spPr>
          <a:xfrm xmlns:a="http://schemas.openxmlformats.org/drawingml/2006/main">
            <a:off x="1047750" y="17621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00" b="1">
                <a:solidFill>
                  <a:srgbClr val="536A77"/>
                </a:solidFill>
                <a:latin typeface="Arial"/>
                <a:ea typeface="Arial"/>
                <a:cs typeface="Arial"/>
              </a:defRPr>
            </a:pPr>
            <a:r>
              <a:rPr sz="1800" b="1">
                <a:solidFill>
                  <a:srgbClr val="536A77"/>
                </a:solidFill>
                <a:latin typeface="Arial"/>
                <a:ea typeface="Arial"/>
                <a:cs typeface="Arial"/>
              </a:rPr>
              <a:t>Actual class</a:t>
            </a:r>
          </a:p>
        </p:txBody>
      </p:sp>
      <p:sp>
        <p:nvSpPr>
          <p:cNvPr id="4" name="">
            <a:extLst xmlns:a="http://schemas.openxmlformats.org/drawingml/2006/main">
              <a:ext uri="{FF2B5EF4-FFF2-40B4-BE49-F238E27FC236}">
                <a16:creationId xmlns:a16="http://schemas.microsoft.com/office/drawing/2014/main" id="{14BC99C2-FED1-445F-8699-BCFC2EB5096A}"/>
              </a:ext>
            </a:extLst>
          </p:cNvPr>
          <p:cNvSpPr>
            <a:spLocks xmlns:a="http://schemas.openxmlformats.org/drawingml/2006/main" noGrp="1"/>
          </p:cNvSpPr>
          <p:nvPr/>
        </p:nvSpPr>
        <p:spPr>
          <a:xfrm xmlns:a="http://schemas.openxmlformats.org/drawingml/2006/main">
            <a:off x="4953000" y="176212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00" b="1">
                <a:solidFill>
                  <a:srgbClr val="536A77"/>
                </a:solidFill>
                <a:latin typeface="Arial"/>
                <a:ea typeface="Arial"/>
                <a:cs typeface="Arial"/>
              </a:defRPr>
            </a:pPr>
            <a:r>
              <a:rPr sz="1800" b="1">
                <a:solidFill>
                  <a:srgbClr val="536A77"/>
                </a:solidFill>
                <a:latin typeface="Arial"/>
                <a:ea typeface="Arial"/>
                <a:cs typeface="Arial"/>
              </a:rPr>
              <a:t>Predicted benign</a:t>
            </a:r>
          </a:p>
        </p:txBody>
      </p:sp>
      <p:sp>
        <p:nvSpPr>
          <p:cNvPr id="5" name="">
            <a:extLst xmlns:a="http://schemas.openxmlformats.org/drawingml/2006/main">
              <a:ext uri="{FF2B5EF4-FFF2-40B4-BE49-F238E27FC236}">
                <a16:creationId xmlns:a16="http://schemas.microsoft.com/office/drawing/2014/main" id="{EA58FD8F-886B-49F5-B3BA-4CA8EE43B8AE}"/>
              </a:ext>
            </a:extLst>
          </p:cNvPr>
          <p:cNvSpPr>
            <a:spLocks xmlns:a="http://schemas.openxmlformats.org/drawingml/2006/main" noGrp="1"/>
          </p:cNvSpPr>
          <p:nvPr/>
        </p:nvSpPr>
        <p:spPr>
          <a:xfrm xmlns:a="http://schemas.openxmlformats.org/drawingml/2006/main">
            <a:off x="8096250" y="1762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00" b="1">
                <a:solidFill>
                  <a:srgbClr val="536A77"/>
                </a:solidFill>
                <a:latin typeface="Arial"/>
                <a:ea typeface="Arial"/>
                <a:cs typeface="Arial"/>
              </a:defRPr>
            </a:pPr>
            <a:r>
              <a:rPr sz="1800" b="1">
                <a:solidFill>
                  <a:srgbClr val="536A77"/>
                </a:solidFill>
                <a:latin typeface="Arial"/>
                <a:ea typeface="Arial"/>
                <a:cs typeface="Arial"/>
              </a:rPr>
              <a:t>Predicted malignant</a:t>
            </a:r>
          </a:p>
        </p:txBody>
      </p:sp>
      <p:sp>
        <p:nvSpPr>
          <p:cNvPr id="6" name="">
            <a:extLst xmlns:a="http://schemas.openxmlformats.org/drawingml/2006/main">
              <a:ext uri="{FF2B5EF4-FFF2-40B4-BE49-F238E27FC236}">
                <a16:creationId xmlns:a16="http://schemas.microsoft.com/office/drawing/2014/main" id="{12C56E9F-DB2F-4AF9-9B47-D7184D09BC06}"/>
              </a:ext>
            </a:extLst>
          </p:cNvPr>
          <p:cNvSpPr>
            <a:spLocks xmlns:a="http://schemas.openxmlformats.org/drawingml/2006/main" noGrp="1"/>
          </p:cNvSpPr>
          <p:nvPr/>
        </p:nvSpPr>
        <p:spPr>
          <a:xfrm xmlns:a="http://schemas.openxmlformats.org/drawingml/2006/main">
            <a:off x="1047750" y="276225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400" b="1">
                <a:solidFill>
                  <a:srgbClr val="163345"/>
                </a:solidFill>
                <a:latin typeface="Arial"/>
                <a:ea typeface="Arial"/>
                <a:cs typeface="Arial"/>
              </a:defRPr>
            </a:pPr>
            <a:r>
              <a:rPr sz="2400" b="1">
                <a:solidFill>
                  <a:srgbClr val="163345"/>
                </a:solidFill>
                <a:latin typeface="Arial"/>
                <a:ea typeface="Arial"/>
                <a:cs typeface="Arial"/>
              </a:rPr>
              <a:t>Benign</a:t>
            </a:r>
          </a:p>
        </p:txBody>
      </p:sp>
      <p:sp>
        <p:nvSpPr>
          <p:cNvPr id="7" name="">
            <a:extLst xmlns:a="http://schemas.openxmlformats.org/drawingml/2006/main">
              <a:ext uri="{FF2B5EF4-FFF2-40B4-BE49-F238E27FC236}">
                <a16:creationId xmlns:a16="http://schemas.microsoft.com/office/drawing/2014/main" id="{BD3FCA57-6AD4-4F83-95AA-7724F6D6F8B1}"/>
              </a:ext>
            </a:extLst>
          </p:cNvPr>
          <p:cNvSpPr>
            <a:spLocks xmlns:a="http://schemas.openxmlformats.org/drawingml/2006/main" noGrp="1"/>
          </p:cNvSpPr>
          <p:nvPr/>
        </p:nvSpPr>
        <p:spPr>
          <a:xfrm xmlns:a="http://schemas.openxmlformats.org/drawingml/2006/main">
            <a:off x="5334000" y="2714625"/>
            <a:ext cx="133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450" b="1">
                <a:solidFill>
                  <a:srgbClr val="167C80"/>
                </a:solidFill>
                <a:latin typeface="Arial"/>
                <a:ea typeface="Arial"/>
                <a:cs typeface="Arial"/>
              </a:defRPr>
            </a:pPr>
            <a:r>
              <a:rPr sz="3450" b="1">
                <a:solidFill>
                  <a:srgbClr val="167C80"/>
                </a:solidFill>
                <a:latin typeface="Arial"/>
                <a:ea typeface="Arial"/>
                <a:cs typeface="Arial"/>
              </a:rPr>
              <a:t>71</a:t>
            </a:r>
          </a:p>
        </p:txBody>
      </p:sp>
      <p:sp>
        <p:nvSpPr>
          <p:cNvPr id="8" name="">
            <a:extLst xmlns:a="http://schemas.openxmlformats.org/drawingml/2006/main">
              <a:ext uri="{FF2B5EF4-FFF2-40B4-BE49-F238E27FC236}">
                <a16:creationId xmlns:a16="http://schemas.microsoft.com/office/drawing/2014/main" id="{10B17209-0D88-4A5C-BC13-26758E344AEB}"/>
              </a:ext>
            </a:extLst>
          </p:cNvPr>
          <p:cNvSpPr>
            <a:spLocks xmlns:a="http://schemas.openxmlformats.org/drawingml/2006/main" noGrp="1"/>
          </p:cNvSpPr>
          <p:nvPr/>
        </p:nvSpPr>
        <p:spPr>
          <a:xfrm xmlns:a="http://schemas.openxmlformats.org/drawingml/2006/main">
            <a:off x="8096250" y="2762250"/>
            <a:ext cx="295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B3543C"/>
                </a:solidFill>
                <a:latin typeface="Arial"/>
                <a:ea typeface="Arial"/>
                <a:cs typeface="Arial"/>
              </a:defRPr>
            </a:pPr>
            <a:r>
              <a:rPr sz="2025" b="0">
                <a:solidFill>
                  <a:srgbClr val="B3543C"/>
                </a:solidFill>
                <a:latin typeface="Arial"/>
                <a:ea typeface="Arial"/>
                <a:cs typeface="Arial"/>
              </a:rPr>
              <a:t>1 false positive</a:t>
            </a:r>
          </a:p>
        </p:txBody>
      </p:sp>
      <p:sp>
        <p:nvSpPr>
          <p:cNvPr id="9" name="">
            <a:extLst xmlns:a="http://schemas.openxmlformats.org/drawingml/2006/main">
              <a:ext uri="{FF2B5EF4-FFF2-40B4-BE49-F238E27FC236}">
                <a16:creationId xmlns:a16="http://schemas.microsoft.com/office/drawing/2014/main" id="{52CD76AF-3994-431E-B4F2-BA1EE463A24B}"/>
              </a:ext>
            </a:extLst>
          </p:cNvPr>
          <p:cNvSpPr>
            <a:spLocks xmlns:a="http://schemas.openxmlformats.org/drawingml/2006/main" noGrp="1"/>
          </p:cNvSpPr>
          <p:nvPr/>
        </p:nvSpPr>
        <p:spPr>
          <a:xfrm xmlns:a="http://schemas.openxmlformats.org/drawingml/2006/main">
            <a:off x="1047750" y="3857625"/>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400" b="1">
                <a:solidFill>
                  <a:srgbClr val="163345"/>
                </a:solidFill>
                <a:latin typeface="Arial"/>
                <a:ea typeface="Arial"/>
                <a:cs typeface="Arial"/>
              </a:defRPr>
            </a:pPr>
            <a:r>
              <a:rPr sz="2400" b="1">
                <a:solidFill>
                  <a:srgbClr val="163345"/>
                </a:solidFill>
                <a:latin typeface="Arial"/>
                <a:ea typeface="Arial"/>
                <a:cs typeface="Arial"/>
              </a:rPr>
              <a:t>Malignant</a:t>
            </a:r>
          </a:p>
        </p:txBody>
      </p:sp>
      <p:sp>
        <p:nvSpPr>
          <p:cNvPr id="10" name="">
            <a:extLst xmlns:a="http://schemas.openxmlformats.org/drawingml/2006/main">
              <a:ext uri="{FF2B5EF4-FFF2-40B4-BE49-F238E27FC236}">
                <a16:creationId xmlns:a16="http://schemas.microsoft.com/office/drawing/2014/main" id="{40BDB97A-29DA-4FF7-BBDF-9217AA98692F}"/>
              </a:ext>
            </a:extLst>
          </p:cNvPr>
          <p:cNvSpPr>
            <a:spLocks xmlns:a="http://schemas.openxmlformats.org/drawingml/2006/main" noGrp="1"/>
          </p:cNvSpPr>
          <p:nvPr/>
        </p:nvSpPr>
        <p:spPr>
          <a:xfrm xmlns:a="http://schemas.openxmlformats.org/drawingml/2006/main">
            <a:off x="4953000" y="3857625"/>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B3543C"/>
                </a:solidFill>
                <a:latin typeface="Arial"/>
                <a:ea typeface="Arial"/>
                <a:cs typeface="Arial"/>
              </a:defRPr>
            </a:pPr>
            <a:r>
              <a:rPr sz="2025" b="0">
                <a:solidFill>
                  <a:srgbClr val="B3543C"/>
                </a:solidFill>
                <a:latin typeface="Arial"/>
                <a:ea typeface="Arial"/>
                <a:cs typeface="Arial"/>
              </a:rPr>
              <a:t>3 false negatives</a:t>
            </a:r>
          </a:p>
        </p:txBody>
      </p:sp>
      <p:sp>
        <p:nvSpPr>
          <p:cNvPr id="11" name="">
            <a:extLst xmlns:a="http://schemas.openxmlformats.org/drawingml/2006/main">
              <a:ext uri="{FF2B5EF4-FFF2-40B4-BE49-F238E27FC236}">
                <a16:creationId xmlns:a16="http://schemas.microsoft.com/office/drawing/2014/main" id="{4CE25C71-6223-4A51-9F8A-1AE43E655014}"/>
              </a:ext>
            </a:extLst>
          </p:cNvPr>
          <p:cNvSpPr>
            <a:spLocks xmlns:a="http://schemas.openxmlformats.org/drawingml/2006/main" noGrp="1"/>
          </p:cNvSpPr>
          <p:nvPr/>
        </p:nvSpPr>
        <p:spPr>
          <a:xfrm xmlns:a="http://schemas.openxmlformats.org/drawingml/2006/main">
            <a:off x="8572500" y="3810000"/>
            <a:ext cx="133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450" b="1">
                <a:solidFill>
                  <a:srgbClr val="167C80"/>
                </a:solidFill>
                <a:latin typeface="Arial"/>
                <a:ea typeface="Arial"/>
                <a:cs typeface="Arial"/>
              </a:defRPr>
            </a:pPr>
            <a:r>
              <a:rPr sz="3450" b="1">
                <a:solidFill>
                  <a:srgbClr val="167C80"/>
                </a:solidFill>
                <a:latin typeface="Arial"/>
                <a:ea typeface="Arial"/>
                <a:cs typeface="Arial"/>
              </a:rPr>
              <a:t>39</a:t>
            </a:r>
          </a:p>
        </p:txBody>
      </p:sp>
    </p:spTree>
    <p:extLst>
      <p:ext uri="{BB962C8B-B14F-4D97-AF65-F5344CB8AC3E}">
        <p14:creationId xmlns:p14="http://schemas.microsoft.com/office/powerpoint/2010/main" val="1801896260"/>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DDA59E-09B2-410C-B41B-EF393515BBC4}"/>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Model coefficients are not causes</a:t>
            </a:r>
          </a:p>
        </p:txBody>
      </p:sp>
      <p:sp>
        <p:nvSpPr>
          <p:cNvPr id="2" name="">
            <a:extLst xmlns:a="http://schemas.openxmlformats.org/drawingml/2006/main">
              <a:ext uri="{FF2B5EF4-FFF2-40B4-BE49-F238E27FC236}">
                <a16:creationId xmlns:a16="http://schemas.microsoft.com/office/drawing/2014/main" id="{FB466E1D-ACCD-4CFD-AFEF-408ED8C9CED7}"/>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38947CFF-6DCA-4038-B5DC-6663E7DF3984}"/>
              </a:ext>
            </a:extLst>
          </p:cNvPr>
          <p:cNvSpPr>
            <a:spLocks xmlns:a="http://schemas.openxmlformats.org/drawingml/2006/main" noGrp="1"/>
          </p:cNvSpPr>
          <p:nvPr/>
        </p:nvSpPr>
        <p:spPr>
          <a:xfrm xmlns:a="http://schemas.openxmlformats.org/drawingml/2006/main">
            <a:off x="952500" y="18097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925" b="1">
                <a:solidFill>
                  <a:srgbClr val="163345"/>
                </a:solidFill>
                <a:latin typeface="Arial"/>
                <a:ea typeface="Arial"/>
                <a:cs typeface="Arial"/>
              </a:defRPr>
            </a:pPr>
            <a:r>
              <a:rPr sz="2925" b="1">
                <a:solidFill>
                  <a:srgbClr val="163345"/>
                </a:solidFill>
                <a:latin typeface="Arial"/>
                <a:ea typeface="Arial"/>
                <a:cs typeface="Arial"/>
              </a:rPr>
              <a:t>Inspect outputs/coefficients.csv</a:t>
            </a:r>
          </a:p>
        </p:txBody>
      </p:sp>
      <p:sp>
        <p:nvSpPr>
          <p:cNvPr id="4" name="">
            <a:extLst xmlns:a="http://schemas.openxmlformats.org/drawingml/2006/main">
              <a:ext uri="{FF2B5EF4-FFF2-40B4-BE49-F238E27FC236}">
                <a16:creationId xmlns:a16="http://schemas.microsoft.com/office/drawing/2014/main" id="{F6F63048-FC83-41A6-8564-25D35F566583}"/>
              </a:ext>
            </a:extLst>
          </p:cNvPr>
          <p:cNvSpPr>
            <a:spLocks xmlns:a="http://schemas.openxmlformats.org/drawingml/2006/main" noGrp="1"/>
          </p:cNvSpPr>
          <p:nvPr/>
        </p:nvSpPr>
        <p:spPr>
          <a:xfrm xmlns:a="http://schemas.openxmlformats.org/drawingml/2006/main">
            <a:off x="1000125" y="2857500"/>
            <a:ext cx="10001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Ranked standardized weights can help explain what the model used.</a:t>
            </a:r>
          </a:p>
          <a:p xmlns:a="http://schemas.openxmlformats.org/drawingml/2006/main">
            <a:r>
              <a:t/>
            </a:r>
          </a:p>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They do not establish biological cause, causal risk, or a medical mechanism.</a:t>
            </a:r>
          </a:p>
          <a:p xmlns:a="http://schemas.openxmlformats.org/drawingml/2006/main">
            <a:r>
              <a:t/>
            </a:r>
          </a:p>
          <a:p xmlns:a="http://schemas.openxmlformats.org/drawingml/2006/main">
            <a:pPr>
              <a:buNone/>
              <a:defRPr sz="2025" b="0">
                <a:solidFill>
                  <a:srgbClr val="263D4B"/>
                </a:solidFill>
                <a:latin typeface="Arial"/>
                <a:ea typeface="Arial"/>
                <a:cs typeface="Arial"/>
              </a:defRPr>
            </a:pPr>
            <a:r>
              <a:rPr sz="2025" b="0">
                <a:solidFill>
                  <a:srgbClr val="263D4B"/>
                </a:solidFill>
                <a:latin typeface="Arial"/>
                <a:ea typeface="Arial"/>
                <a:cs typeface="Arial"/>
              </a:rPr>
              <a:t>For correlated measurements, a coefficient can change when other features or samples change.</a:t>
            </a:r>
          </a:p>
        </p:txBody>
      </p:sp>
    </p:spTree>
    <p:extLst>
      <p:ext uri="{BB962C8B-B14F-4D97-AF65-F5344CB8AC3E}">
        <p14:creationId xmlns:p14="http://schemas.microsoft.com/office/powerpoint/2010/main" val="887478802"/>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88BA51-BDAC-481F-941F-D6A2F28C9539}"/>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What this experiment cannot establish</a:t>
            </a:r>
          </a:p>
        </p:txBody>
      </p:sp>
      <p:sp>
        <p:nvSpPr>
          <p:cNvPr id="2" name="">
            <a:extLst xmlns:a="http://schemas.openxmlformats.org/drawingml/2006/main">
              <a:ext uri="{FF2B5EF4-FFF2-40B4-BE49-F238E27FC236}">
                <a16:creationId xmlns:a16="http://schemas.microsoft.com/office/drawing/2014/main" id="{F36B0288-BF2E-4D6C-A076-D52A48BC5C0B}"/>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72DB08F-C4BE-4FCB-82DA-0F805971D02E}"/>
              </a:ext>
            </a:extLst>
          </p:cNvPr>
          <p:cNvSpPr>
            <a:spLocks xmlns:a="http://schemas.openxmlformats.org/drawingml/2006/main" noGrp="1"/>
          </p:cNvSpPr>
          <p:nvPr/>
        </p:nvSpPr>
        <p:spPr>
          <a:xfrm xmlns:a="http://schemas.openxmlformats.org/drawingml/2006/main">
            <a:off x="952500" y="1666875"/>
            <a:ext cx="1000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625" b="1">
                <a:solidFill>
                  <a:srgbClr val="163345"/>
                </a:solidFill>
                <a:latin typeface="Arial"/>
                <a:ea typeface="Arial"/>
                <a:cs typeface="Arial"/>
              </a:defRPr>
            </a:pPr>
            <a:r>
              <a:rPr sz="2625" b="1">
                <a:solidFill>
                  <a:srgbClr val="163345"/>
                </a:solidFill>
                <a:latin typeface="Arial"/>
                <a:ea typeface="Arial"/>
                <a:cs typeface="Arial"/>
              </a:rPr>
              <a:t>One small historical dataset</a:t>
            </a:r>
          </a:p>
        </p:txBody>
      </p:sp>
      <p:sp>
        <p:nvSpPr>
          <p:cNvPr id="4" name="">
            <a:extLst xmlns:a="http://schemas.openxmlformats.org/drawingml/2006/main">
              <a:ext uri="{FF2B5EF4-FFF2-40B4-BE49-F238E27FC236}">
                <a16:creationId xmlns:a16="http://schemas.microsoft.com/office/drawing/2014/main" id="{47F63933-56E5-4C77-B358-CF4E23294DEE}"/>
              </a:ext>
            </a:extLst>
          </p:cNvPr>
          <p:cNvSpPr>
            <a:spLocks xmlns:a="http://schemas.openxmlformats.org/drawingml/2006/main" noGrp="1"/>
          </p:cNvSpPr>
          <p:nvPr/>
        </p:nvSpPr>
        <p:spPr>
          <a:xfrm xmlns:a="http://schemas.openxmlformats.org/drawingml/2006/main">
            <a:off x="1028700" y="2762250"/>
            <a:ext cx="10001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No external hospital validation</a:t>
            </a:r>
          </a:p>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No calibration or subgroup audit</a:t>
            </a:r>
          </a:p>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No prospective workflow or patient-outcome study</a:t>
            </a:r>
          </a:p>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No clinical threshold or decision-impact evidence</a:t>
            </a:r>
          </a:p>
        </p:txBody>
      </p:sp>
      <p:sp>
        <p:nvSpPr>
          <p:cNvPr id="5" name="">
            <a:extLst xmlns:a="http://schemas.openxmlformats.org/drawingml/2006/main">
              <a:ext uri="{FF2B5EF4-FFF2-40B4-BE49-F238E27FC236}">
                <a16:creationId xmlns:a16="http://schemas.microsoft.com/office/drawing/2014/main" id="{6D064CC6-3BCA-41FE-B179-3B9694B7D41E}"/>
              </a:ext>
            </a:extLst>
          </p:cNvPr>
          <p:cNvSpPr>
            <a:spLocks xmlns:a="http://schemas.openxmlformats.org/drawingml/2006/main" noGrp="1"/>
          </p:cNvSpPr>
          <p:nvPr/>
        </p:nvSpPr>
        <p:spPr>
          <a:xfrm xmlns:a="http://schemas.openxmlformats.org/drawingml/2006/main">
            <a:off x="1028700" y="5476875"/>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1">
                <a:solidFill>
                  <a:srgbClr val="B3543C"/>
                </a:solidFill>
                <a:latin typeface="Arial"/>
                <a:ea typeface="Arial"/>
                <a:cs typeface="Arial"/>
              </a:defRPr>
            </a:pPr>
            <a:r>
              <a:rPr sz="2025" b="1">
                <a:solidFill>
                  <a:srgbClr val="B3543C"/>
                </a:solidFill>
                <a:latin typeface="Arial"/>
                <a:ea typeface="Arial"/>
                <a:cs typeface="Arial"/>
              </a:rPr>
              <a:t>Do not use the model for patient care.</a:t>
            </a:r>
          </a:p>
        </p:txBody>
      </p:sp>
    </p:spTree>
    <p:extLst>
      <p:ext uri="{BB962C8B-B14F-4D97-AF65-F5344CB8AC3E}">
        <p14:creationId xmlns:p14="http://schemas.microsoft.com/office/powerpoint/2010/main" val="1345260062"/>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24B06C-B252-45AA-A2E3-7BAD7F7E8244}"/>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00" b="1">
                <a:solidFill>
                  <a:srgbClr val="163345"/>
                </a:solidFill>
                <a:latin typeface="Arial"/>
                <a:ea typeface="Arial"/>
                <a:cs typeface="Arial"/>
              </a:defRPr>
            </a:pPr>
            <a:r>
              <a:rPr sz="3300" b="1">
                <a:solidFill>
                  <a:srgbClr val="163345"/>
                </a:solidFill>
                <a:latin typeface="Arial"/>
                <a:ea typeface="Arial"/>
                <a:cs typeface="Arial"/>
              </a:rPr>
              <a:t>Replicate, then critique</a:t>
            </a:r>
          </a:p>
        </p:txBody>
      </p:sp>
      <p:sp>
        <p:nvSpPr>
          <p:cNvPr id="2" name="">
            <a:extLst xmlns:a="http://schemas.openxmlformats.org/drawingml/2006/main">
              <a:ext uri="{FF2B5EF4-FFF2-40B4-BE49-F238E27FC236}">
                <a16:creationId xmlns:a16="http://schemas.microsoft.com/office/drawing/2014/main" id="{0C436839-C806-4211-A489-8C58F480B59A}"/>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0">
                <a:solidFill>
                  <a:srgbClr val="536A77"/>
                </a:solidFill>
                <a:latin typeface="Arial"/>
                <a:ea typeface="Arial"/>
                <a:cs typeface="Arial"/>
              </a:defRPr>
            </a:pPr>
            <a:r>
              <a:rPr sz="1350" b="0">
                <a:solidFill>
                  <a:srgbClr val="536A77"/>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04E33596-F67E-48DD-9DE6-E32B353C580B}"/>
              </a:ext>
            </a:extLst>
          </p:cNvPr>
          <p:cNvSpPr>
            <a:spLocks xmlns:a="http://schemas.openxmlformats.org/drawingml/2006/main" noGrp="1"/>
          </p:cNvSpPr>
          <p:nvPr/>
        </p:nvSpPr>
        <p:spPr>
          <a:xfrm xmlns:a="http://schemas.openxmlformats.org/drawingml/2006/main">
            <a:off x="1000125" y="1571625"/>
            <a:ext cx="971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1  Install the project dependencies</a:t>
            </a:r>
          </a:p>
        </p:txBody>
      </p:sp>
      <p:sp>
        <p:nvSpPr>
          <p:cNvPr id="4" name="">
            <a:extLst xmlns:a="http://schemas.openxmlformats.org/drawingml/2006/main">
              <a:ext uri="{FF2B5EF4-FFF2-40B4-BE49-F238E27FC236}">
                <a16:creationId xmlns:a16="http://schemas.microsoft.com/office/drawing/2014/main" id="{B6C39566-DA0F-432A-948C-5836A507B981}"/>
              </a:ext>
            </a:extLst>
          </p:cNvPr>
          <p:cNvSpPr>
            <a:spLocks xmlns:a="http://schemas.openxmlformats.org/drawingml/2006/main" noGrp="1"/>
          </p:cNvSpPr>
          <p:nvPr/>
        </p:nvSpPr>
        <p:spPr>
          <a:xfrm xmlns:a="http://schemas.openxmlformats.org/drawingml/2006/main">
            <a:off x="1000125" y="2333625"/>
            <a:ext cx="971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2  Run python src/analyze.py twice</a:t>
            </a:r>
          </a:p>
        </p:txBody>
      </p:sp>
      <p:sp>
        <p:nvSpPr>
          <p:cNvPr id="5" name="">
            <a:extLst xmlns:a="http://schemas.openxmlformats.org/drawingml/2006/main">
              <a:ext uri="{FF2B5EF4-FFF2-40B4-BE49-F238E27FC236}">
                <a16:creationId xmlns:a16="http://schemas.microsoft.com/office/drawing/2014/main" id="{F299D5A0-726F-4C39-A8F3-B550801340CC}"/>
              </a:ext>
            </a:extLst>
          </p:cNvPr>
          <p:cNvSpPr>
            <a:spLocks xmlns:a="http://schemas.openxmlformats.org/drawingml/2006/main" noGrp="1"/>
          </p:cNvSpPr>
          <p:nvPr/>
        </p:nvSpPr>
        <p:spPr>
          <a:xfrm xmlns:a="http://schemas.openxmlformats.org/drawingml/2006/main">
            <a:off x="1000125" y="3095625"/>
            <a:ext cx="971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3  Change the seed and compare the test metrics</a:t>
            </a:r>
          </a:p>
        </p:txBody>
      </p:sp>
      <p:sp>
        <p:nvSpPr>
          <p:cNvPr id="6" name="">
            <a:extLst xmlns:a="http://schemas.openxmlformats.org/drawingml/2006/main">
              <a:ext uri="{FF2B5EF4-FFF2-40B4-BE49-F238E27FC236}">
                <a16:creationId xmlns:a16="http://schemas.microsoft.com/office/drawing/2014/main" id="{4B898989-3739-41DB-BAB9-CC71A568BDE8}"/>
              </a:ext>
            </a:extLst>
          </p:cNvPr>
          <p:cNvSpPr>
            <a:spLocks xmlns:a="http://schemas.openxmlformats.org/drawingml/2006/main" noGrp="1"/>
          </p:cNvSpPr>
          <p:nvPr/>
        </p:nvSpPr>
        <p:spPr>
          <a:xfrm xmlns:a="http://schemas.openxmlformats.org/drawingml/2006/main">
            <a:off x="1000125" y="3857625"/>
            <a:ext cx="971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0">
                <a:solidFill>
                  <a:srgbClr val="263D4B"/>
                </a:solidFill>
                <a:latin typeface="Arial"/>
                <a:ea typeface="Arial"/>
                <a:cs typeface="Arial"/>
              </a:defRPr>
            </a:pPr>
            <a:r>
              <a:rPr sz="2100" b="0">
                <a:solidFill>
                  <a:srgbClr val="263D4B"/>
                </a:solidFill>
                <a:latin typeface="Arial"/>
                <a:ea typeface="Arial"/>
                <a:cs typeface="Arial"/>
              </a:rPr>
              <a:t>4  Explain why replication is not clinical validation</a:t>
            </a:r>
          </a:p>
        </p:txBody>
      </p:sp>
      <p:sp>
        <p:nvSpPr>
          <p:cNvPr id="7" name="">
            <a:extLst xmlns:a="http://schemas.openxmlformats.org/drawingml/2006/main">
              <a:ext uri="{FF2B5EF4-FFF2-40B4-BE49-F238E27FC236}">
                <a16:creationId xmlns:a16="http://schemas.microsoft.com/office/drawing/2014/main" id="{ADEC7E48-20AB-45AC-A7F3-10FA072F57A7}"/>
              </a:ext>
            </a:extLst>
          </p:cNvPr>
          <p:cNvSpPr>
            <a:spLocks xmlns:a="http://schemas.openxmlformats.org/drawingml/2006/main" noGrp="1"/>
          </p:cNvSpPr>
          <p:nvPr/>
        </p:nvSpPr>
        <p:spPr>
          <a:xfrm xmlns:a="http://schemas.openxmlformats.org/drawingml/2006/main">
            <a:off x="1000125" y="509587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b="1">
                <a:solidFill>
                  <a:srgbClr val="167C80"/>
                </a:solidFill>
                <a:latin typeface="Arial"/>
                <a:ea typeface="Arial"/>
                <a:cs typeface="Arial"/>
              </a:defRPr>
            </a:pPr>
            <a:r>
              <a:rPr sz="1725" b="1">
                <a:solidFill>
                  <a:srgbClr val="167C80"/>
                </a:solidFill>
                <a:latin typeface="Arial"/>
                <a:ea typeface="Arial"/>
                <a:cs typeface="Arial"/>
              </a:rPr>
              <a:t>Project notebook: notebooks/breast_cancer_tutorial.ipynb</a:t>
            </a:r>
          </a:p>
        </p:txBody>
      </p:sp>
    </p:spTree>
    <p:extLst>
      <p:ext uri="{BB962C8B-B14F-4D97-AF65-F5344CB8AC3E}">
        <p14:creationId xmlns:p14="http://schemas.microsoft.com/office/powerpoint/2010/main" val="716765084"/>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4C8E90-EAD9-4B2E-ACCF-D3ACD271CD6F}"/>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63345"/>
                </a:solidFill>
                <a:latin typeface="Arial"/>
                <a:ea typeface="Arial"/>
                <a:cs typeface="Arial"/>
              </a:defRPr>
            </a:pPr>
            <a:r>
              <a:rPr sz="3300" b="1">
                <a:solidFill>
                  <a:srgbClr val="163345"/>
                </a:solidFill>
                <a:latin typeface="Arial"/>
                <a:ea typeface="Arial"/>
                <a:cs typeface="Arial"/>
              </a:rPr>
              <a:t>What the 30 measurements describe</a:t>
            </a:r>
          </a:p>
        </p:txBody>
      </p:sp>
      <p:sp>
        <p:nvSpPr>
          <p:cNvPr id="2" name="">
            <a:extLst xmlns:a="http://schemas.openxmlformats.org/drawingml/2006/main">
              <a:ext uri="{FF2B5EF4-FFF2-40B4-BE49-F238E27FC236}">
                <a16:creationId xmlns:a16="http://schemas.microsoft.com/office/drawing/2014/main" id="{39B2AF81-F0C3-4F57-9A73-61FA9EB5710C}"/>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36A77"/>
                </a:solidFill>
                <a:latin typeface="Arial"/>
                <a:ea typeface="Arial"/>
                <a:cs typeface="Arial"/>
              </a:defRPr>
            </a:pPr>
            <a:r>
              <a:rPr sz="1350" b="0">
                <a:solidFill>
                  <a:srgbClr val="536A7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7F7E17E-EEC8-46E0-889E-D03DAB934F0B}"/>
              </a:ext>
            </a:extLst>
          </p:cNvPr>
          <p:cNvSpPr>
            <a:spLocks xmlns:a="http://schemas.openxmlformats.org/drawingml/2006/main" noGrp="1"/>
          </p:cNvSpPr>
          <p:nvPr/>
        </p:nvSpPr>
        <p:spPr>
          <a:xfrm xmlns:a="http://schemas.openxmlformats.org/drawingml/2006/main">
            <a:off x="971550" y="1476375"/>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67C80"/>
                </a:solidFill>
                <a:latin typeface="Arial"/>
                <a:ea typeface="Arial"/>
                <a:cs typeface="Arial"/>
              </a:defRPr>
            </a:pPr>
            <a:r>
              <a:rPr sz="2250" b="1">
                <a:solidFill>
                  <a:srgbClr val="167C80"/>
                </a:solidFill>
                <a:latin typeface="Arial"/>
                <a:ea typeface="Arial"/>
                <a:cs typeface="Arial"/>
              </a:rPr>
              <a:t>Examples from the feature table</a:t>
            </a:r>
          </a:p>
        </p:txBody>
      </p:sp>
      <p:sp>
        <p:nvSpPr>
          <p:cNvPr id="4" name="">
            <a:extLst xmlns:a="http://schemas.openxmlformats.org/drawingml/2006/main">
              <a:ext uri="{FF2B5EF4-FFF2-40B4-BE49-F238E27FC236}">
                <a16:creationId xmlns:a16="http://schemas.microsoft.com/office/drawing/2014/main" id="{66CAAA7D-ED24-497F-8256-472EFE69A5B8}"/>
              </a:ext>
            </a:extLst>
          </p:cNvPr>
          <p:cNvSpPr>
            <a:spLocks xmlns:a="http://schemas.openxmlformats.org/drawingml/2006/main" noGrp="1"/>
          </p:cNvSpPr>
          <p:nvPr/>
        </p:nvSpPr>
        <p:spPr>
          <a:xfrm xmlns:a="http://schemas.openxmlformats.org/drawingml/2006/main">
            <a:off x="1047750" y="2190750"/>
            <a:ext cx="1000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263D4B"/>
                </a:solidFill>
                <a:latin typeface="Arial"/>
                <a:ea typeface="Arial"/>
                <a:cs typeface="Arial"/>
              </a:defRPr>
            </a:pPr>
            <a:r>
              <a:rPr sz="2025" b="0">
                <a:solidFill>
                  <a:srgbClr val="263D4B"/>
                </a:solidFill>
                <a:latin typeface="Arial"/>
                <a:ea typeface="Arial"/>
                <a:cs typeface="Arial"/>
              </a:rPr>
              <a:t>mean radius   average center-to-edge distance</a:t>
            </a:r>
          </a:p>
          <a:p xmlns:a="http://schemas.openxmlformats.org/drawingml/2006/main">
            <a:pPr>
              <a:defRPr sz="2025" b="0">
                <a:solidFill>
                  <a:srgbClr val="263D4B"/>
                </a:solidFill>
                <a:latin typeface="Arial"/>
                <a:ea typeface="Arial"/>
                <a:cs typeface="Arial"/>
              </a:defRPr>
            </a:pPr>
            <a:r>
              <a:rPr sz="2025" b="0">
                <a:solidFill>
                  <a:srgbClr val="263D4B"/>
                </a:solidFill>
                <a:latin typeface="Arial"/>
                <a:ea typeface="Arial"/>
                <a:cs typeface="Arial"/>
              </a:rPr>
              <a:t>mean texture  variation in grayscale intensity</a:t>
            </a:r>
          </a:p>
          <a:p xmlns:a="http://schemas.openxmlformats.org/drawingml/2006/main">
            <a:pPr>
              <a:defRPr sz="2025" b="0">
                <a:solidFill>
                  <a:srgbClr val="263D4B"/>
                </a:solidFill>
                <a:latin typeface="Arial"/>
                <a:ea typeface="Arial"/>
                <a:cs typeface="Arial"/>
              </a:defRPr>
            </a:pPr>
            <a:r>
              <a:rPr sz="2025" b="0">
                <a:solidFill>
                  <a:srgbClr val="263D4B"/>
                </a:solidFill>
                <a:latin typeface="Arial"/>
                <a:ea typeface="Arial"/>
                <a:cs typeface="Arial"/>
              </a:rPr>
              <a:t>worst area    extreme area measurement for the sample</a:t>
            </a:r>
          </a:p>
        </p:txBody>
      </p:sp>
      <p:sp>
        <p:nvSpPr>
          <p:cNvPr id="5" name="">
            <a:extLst xmlns:a="http://schemas.openxmlformats.org/drawingml/2006/main">
              <a:ext uri="{FF2B5EF4-FFF2-40B4-BE49-F238E27FC236}">
                <a16:creationId xmlns:a16="http://schemas.microsoft.com/office/drawing/2014/main" id="{70BBAB56-B6A1-42B7-9EE4-08AB14851893}"/>
              </a:ext>
            </a:extLst>
          </p:cNvPr>
          <p:cNvSpPr>
            <a:spLocks xmlns:a="http://schemas.openxmlformats.org/drawingml/2006/main" noGrp="1"/>
          </p:cNvSpPr>
          <p:nvPr/>
        </p:nvSpPr>
        <p:spPr>
          <a:xfrm xmlns:a="http://schemas.openxmlformats.org/drawingml/2006/main">
            <a:off x="1047750" y="4524375"/>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63345"/>
                </a:solidFill>
                <a:latin typeface="Arial"/>
                <a:ea typeface="Arial"/>
                <a:cs typeface="Arial"/>
              </a:defRPr>
            </a:pPr>
            <a:r>
              <a:rPr sz="2025" b="1">
                <a:solidFill>
                  <a:srgbClr val="163345"/>
                </a:solidFill>
                <a:latin typeface="Arial"/>
                <a:ea typeface="Arial"/>
                <a:cs typeface="Arial"/>
              </a:rPr>
              <a:t>10 base measurements × mean, standard error, and worst = 30 features</a:t>
            </a:r>
          </a:p>
        </p:txBody>
      </p:sp>
      <p:sp>
        <p:nvSpPr>
          <p:cNvPr id="6" name="">
            <a:extLst xmlns:a="http://schemas.openxmlformats.org/drawingml/2006/main">
              <a:ext uri="{FF2B5EF4-FFF2-40B4-BE49-F238E27FC236}">
                <a16:creationId xmlns:a16="http://schemas.microsoft.com/office/drawing/2014/main" id="{67425FBA-CAFC-4CBE-A4E3-FACA0C8BB75B}"/>
              </a:ext>
            </a:extLst>
          </p:cNvPr>
          <p:cNvSpPr>
            <a:spLocks xmlns:a="http://schemas.openxmlformats.org/drawingml/2006/main" noGrp="1"/>
          </p:cNvSpPr>
          <p:nvPr/>
        </p:nvSpPr>
        <p:spPr>
          <a:xfrm xmlns:a="http://schemas.openxmlformats.org/drawingml/2006/main">
            <a:off x="1047750" y="5286375"/>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B3543C"/>
                </a:solidFill>
                <a:latin typeface="Arial"/>
                <a:ea typeface="Arial"/>
                <a:cs typeface="Arial"/>
              </a:defRPr>
            </a:pPr>
            <a:r>
              <a:rPr sz="1725" b="0">
                <a:solidFill>
                  <a:srgbClr val="B3543C"/>
                </a:solidFill>
                <a:latin typeface="Arial"/>
                <a:ea typeface="Arial"/>
                <a:cs typeface="Arial"/>
              </a:rPr>
              <a:t>‘Worst’ describes an extreme feature value, not a patient outcome.</a:t>
            </a:r>
          </a:p>
        </p:txBody>
      </p:sp>
    </p:spTree>
    <p:extLst>
      <p:ext uri="{BB962C8B-B14F-4D97-AF65-F5344CB8AC3E}">
        <p14:creationId xmlns:p14="http://schemas.microsoft.com/office/powerpoint/2010/main" val="315066381"/>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73807F-A22F-42C9-9B7A-0E0CEB1D5EB8}"/>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63345"/>
                </a:solidFill>
                <a:latin typeface="Arial"/>
                <a:ea typeface="Arial"/>
                <a:cs typeface="Arial"/>
              </a:defRPr>
            </a:pPr>
            <a:r>
              <a:rPr sz="3300" b="1">
                <a:solidFill>
                  <a:srgbClr val="163345"/>
                </a:solidFill>
                <a:latin typeface="Arial"/>
                <a:ea typeface="Arial"/>
                <a:cs typeface="Arial"/>
              </a:rPr>
              <a:t>Code step 1 · load data and define the label</a:t>
            </a:r>
          </a:p>
        </p:txBody>
      </p:sp>
      <p:sp>
        <p:nvSpPr>
          <p:cNvPr id="2" name="">
            <a:extLst xmlns:a="http://schemas.openxmlformats.org/drawingml/2006/main">
              <a:ext uri="{FF2B5EF4-FFF2-40B4-BE49-F238E27FC236}">
                <a16:creationId xmlns:a16="http://schemas.microsoft.com/office/drawing/2014/main" id="{DB3B4A75-F4F9-42A8-A0A2-C2A825B2ADF3}"/>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36A77"/>
                </a:solidFill>
                <a:latin typeface="Arial"/>
                <a:ea typeface="Arial"/>
                <a:cs typeface="Arial"/>
              </a:defRPr>
            </a:pPr>
            <a:r>
              <a:rPr sz="1350" b="0">
                <a:solidFill>
                  <a:srgbClr val="536A77"/>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F26D7E6-474D-461B-B2EE-85554235EBA7}"/>
              </a:ext>
            </a:extLst>
          </p:cNvPr>
          <p:cNvSpPr>
            <a:spLocks xmlns:a="http://schemas.openxmlformats.org/drawingml/2006/main" noGrp="1"/>
          </p:cNvSpPr>
          <p:nvPr/>
        </p:nvSpPr>
        <p:spPr>
          <a:xfrm xmlns:a="http://schemas.openxmlformats.org/drawingml/2006/main">
            <a:off x="933450" y="1762125"/>
            <a:ext cx="10144125" cy="2667000"/>
          </a:xfrm>
          <a:prstGeom xmlns:a="http://schemas.openxmlformats.org/drawingml/2006/main" prst="rect">
            <a:avLst/>
          </a:prstGeom>
          <a:solidFill xmlns:a="http://schemas.openxmlformats.org/drawingml/2006/main">
            <a:srgbClr val="EAF1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data = load_breast_cancer(as_frame=True)</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X = data.data</a:t>
            </a:r>
          </a:p>
          <a:p xmlns:a="http://schemas.openxmlformats.org/drawingml/2006/main">
            <a:r>
              <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malignant = list(data.target_names).index("malignant")</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y = (data.target == malignant).astype(int)</a:t>
            </a:r>
          </a:p>
        </p:txBody>
      </p:sp>
      <p:sp>
        <p:nvSpPr>
          <p:cNvPr id="4" name="">
            <a:extLst xmlns:a="http://schemas.openxmlformats.org/drawingml/2006/main">
              <a:ext uri="{FF2B5EF4-FFF2-40B4-BE49-F238E27FC236}">
                <a16:creationId xmlns:a16="http://schemas.microsoft.com/office/drawing/2014/main" id="{E4C1725C-A08D-4F55-8B00-D0E0C4245A07}"/>
              </a:ext>
            </a:extLst>
          </p:cNvPr>
          <p:cNvSpPr>
            <a:spLocks xmlns:a="http://schemas.openxmlformats.org/drawingml/2006/main" noGrp="1"/>
          </p:cNvSpPr>
          <p:nvPr/>
        </p:nvSpPr>
        <p:spPr>
          <a:xfrm xmlns:a="http://schemas.openxmlformats.org/drawingml/2006/main">
            <a:off x="990600" y="48577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67C80"/>
                </a:solidFill>
                <a:latin typeface="Arial"/>
                <a:ea typeface="Arial"/>
                <a:cs typeface="Arial"/>
              </a:defRPr>
            </a:pPr>
            <a:r>
              <a:rPr sz="1875" b="1">
                <a:solidFill>
                  <a:srgbClr val="167C80"/>
                </a:solidFill>
                <a:latin typeface="Arial"/>
                <a:ea typeface="Arial"/>
                <a:cs typeface="Arial"/>
              </a:rPr>
              <a:t>X contains 569 rows × 30 features     y = 1 means malignant</a:t>
            </a:r>
          </a:p>
        </p:txBody>
      </p:sp>
    </p:spTree>
    <p:extLst>
      <p:ext uri="{BB962C8B-B14F-4D97-AF65-F5344CB8AC3E}">
        <p14:creationId xmlns:p14="http://schemas.microsoft.com/office/powerpoint/2010/main" val="1375952902"/>
      </p:ext>
    </p:extLst>
  </p:cSld>
</p:sld>
</file>

<file path=ppt/slides/slide1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59F609-3661-4627-8BF9-D0A7D6700139}"/>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63345"/>
                </a:solidFill>
                <a:latin typeface="Arial"/>
                <a:ea typeface="Arial"/>
                <a:cs typeface="Arial"/>
              </a:defRPr>
            </a:pPr>
            <a:r>
              <a:rPr sz="3300" b="1">
                <a:solidFill>
                  <a:srgbClr val="163345"/>
                </a:solidFill>
                <a:latin typeface="Arial"/>
                <a:ea typeface="Arial"/>
                <a:cs typeface="Arial"/>
              </a:rPr>
              <a:t>Code step 2 · split, scale, and fit</a:t>
            </a:r>
          </a:p>
        </p:txBody>
      </p:sp>
      <p:sp>
        <p:nvSpPr>
          <p:cNvPr id="2" name="">
            <a:extLst xmlns:a="http://schemas.openxmlformats.org/drawingml/2006/main">
              <a:ext uri="{FF2B5EF4-FFF2-40B4-BE49-F238E27FC236}">
                <a16:creationId xmlns:a16="http://schemas.microsoft.com/office/drawing/2014/main" id="{3023DE70-1E2D-4457-A5CA-53A01B7B24A4}"/>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36A77"/>
                </a:solidFill>
                <a:latin typeface="Arial"/>
                <a:ea typeface="Arial"/>
                <a:cs typeface="Arial"/>
              </a:defRPr>
            </a:pPr>
            <a:r>
              <a:rPr sz="1350" b="0">
                <a:solidFill>
                  <a:srgbClr val="536A7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CE39FFE2-5315-4D84-8B73-FE39AB36C5A9}"/>
              </a:ext>
            </a:extLst>
          </p:cNvPr>
          <p:cNvSpPr>
            <a:spLocks xmlns:a="http://schemas.openxmlformats.org/drawingml/2006/main" noGrp="1"/>
          </p:cNvSpPr>
          <p:nvPr/>
        </p:nvSpPr>
        <p:spPr>
          <a:xfrm xmlns:a="http://schemas.openxmlformats.org/drawingml/2006/main">
            <a:off x="933450" y="1476375"/>
            <a:ext cx="10144125" cy="3762375"/>
          </a:xfrm>
          <a:prstGeom xmlns:a="http://schemas.openxmlformats.org/drawingml/2006/main" prst="rect">
            <a:avLst/>
          </a:prstGeom>
          <a:solidFill xmlns:a="http://schemas.openxmlformats.org/drawingml/2006/main">
            <a:srgbClr val="EAF1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X_train, X_test, y_train, y_test = train_test_split(</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    X, y, test_size=0.20, stratify=y, random_state=42</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a:t>
            </a:r>
          </a:p>
          <a:p xmlns:a="http://schemas.openxmlformats.org/drawingml/2006/main">
            <a:r>
              <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model = Pipeline([</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    ("scale", StandardScaler()),</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    ("classifier", LogisticRegression(max_iter=5000))</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model.fit(X_train, y_train)</a:t>
            </a:r>
          </a:p>
        </p:txBody>
      </p:sp>
      <p:sp>
        <p:nvSpPr>
          <p:cNvPr id="4" name="">
            <a:extLst xmlns:a="http://schemas.openxmlformats.org/drawingml/2006/main">
              <a:ext uri="{FF2B5EF4-FFF2-40B4-BE49-F238E27FC236}">
                <a16:creationId xmlns:a16="http://schemas.microsoft.com/office/drawing/2014/main" id="{61B6D314-42CD-4F45-8B30-DD1677766F4E}"/>
              </a:ext>
            </a:extLst>
          </p:cNvPr>
          <p:cNvSpPr>
            <a:spLocks xmlns:a="http://schemas.openxmlformats.org/drawingml/2006/main" noGrp="1"/>
          </p:cNvSpPr>
          <p:nvPr/>
        </p:nvSpPr>
        <p:spPr>
          <a:xfrm xmlns:a="http://schemas.openxmlformats.org/drawingml/2006/main">
            <a:off x="990600" y="54102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67C80"/>
                </a:solidFill>
                <a:latin typeface="Arial"/>
                <a:ea typeface="Arial"/>
                <a:cs typeface="Arial"/>
              </a:defRPr>
            </a:pPr>
            <a:r>
              <a:rPr sz="1650" b="1">
                <a:solidFill>
                  <a:srgbClr val="167C80"/>
                </a:solidFill>
                <a:latin typeface="Arial"/>
                <a:ea typeface="Arial"/>
                <a:cs typeface="Arial"/>
              </a:rPr>
              <a:t>455 training samples  ·  114 test samples  ·  preprocessing is learned on train only</a:t>
            </a:r>
          </a:p>
        </p:txBody>
      </p:sp>
    </p:spTree>
    <p:extLst>
      <p:ext uri="{BB962C8B-B14F-4D97-AF65-F5344CB8AC3E}">
        <p14:creationId xmlns:p14="http://schemas.microsoft.com/office/powerpoint/2010/main" val="1541283381"/>
      </p:ext>
    </p:extLst>
  </p:cSld>
</p:sld>
</file>

<file path=ppt/slides/slide1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679447-6423-4D24-96BE-D66B8C812484}"/>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63345"/>
                </a:solidFill>
                <a:latin typeface="Arial"/>
                <a:ea typeface="Arial"/>
                <a:cs typeface="Arial"/>
              </a:defRPr>
            </a:pPr>
            <a:r>
              <a:rPr sz="3300" b="1">
                <a:solidFill>
                  <a:srgbClr val="163345"/>
                </a:solidFill>
                <a:latin typeface="Arial"/>
                <a:ea typeface="Arial"/>
                <a:cs typeface="Arial"/>
              </a:rPr>
              <a:t>Code step 3 · score and count errors</a:t>
            </a:r>
          </a:p>
        </p:txBody>
      </p:sp>
      <p:sp>
        <p:nvSpPr>
          <p:cNvPr id="2" name="">
            <a:extLst xmlns:a="http://schemas.openxmlformats.org/drawingml/2006/main">
              <a:ext uri="{FF2B5EF4-FFF2-40B4-BE49-F238E27FC236}">
                <a16:creationId xmlns:a16="http://schemas.microsoft.com/office/drawing/2014/main" id="{399E1AD2-CF07-444C-B8B1-BF29AECCB30B}"/>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36A77"/>
                </a:solidFill>
                <a:latin typeface="Arial"/>
                <a:ea typeface="Arial"/>
                <a:cs typeface="Arial"/>
              </a:defRPr>
            </a:pPr>
            <a:r>
              <a:rPr sz="1350" b="0">
                <a:solidFill>
                  <a:srgbClr val="536A77"/>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E16B5D8C-25D9-43FF-92F5-EC977F21496E}"/>
              </a:ext>
            </a:extLst>
          </p:cNvPr>
          <p:cNvSpPr>
            <a:spLocks xmlns:a="http://schemas.openxmlformats.org/drawingml/2006/main" noGrp="1"/>
          </p:cNvSpPr>
          <p:nvPr/>
        </p:nvSpPr>
        <p:spPr>
          <a:xfrm xmlns:a="http://schemas.openxmlformats.org/drawingml/2006/main">
            <a:off x="933450" y="1666875"/>
            <a:ext cx="10144125" cy="2857500"/>
          </a:xfrm>
          <a:prstGeom xmlns:a="http://schemas.openxmlformats.org/drawingml/2006/main" prst="rect">
            <a:avLst/>
          </a:prstGeom>
          <a:solidFill xmlns:a="http://schemas.openxmlformats.org/drawingml/2006/main">
            <a:srgbClr val="EAF1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p_malignant = model.predict_proba(X_test)[:, 1]</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predicted = (p_malignant &gt;= 0.50).astype(int)</a:t>
            </a:r>
          </a:p>
          <a:p xmlns:a="http://schemas.openxmlformats.org/drawingml/2006/main">
            <a:r>
              <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tn, fp, fn, tp = confusion_matrix(</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    y_test, predicted, labels=[0, 1]</a:t>
            </a:r>
          </a:p>
          <a:p xmlns:a="http://schemas.openxmlformats.org/drawingml/2006/main">
            <a:pPr>
              <a:defRPr sz="1650" b="0">
                <a:solidFill>
                  <a:srgbClr val="183A43"/>
                </a:solidFill>
                <a:latin typeface="Courier New"/>
                <a:ea typeface="Courier New"/>
                <a:cs typeface="Courier New"/>
              </a:defRPr>
            </a:pPr>
            <a:r>
              <a:rPr sz="1650" b="0">
                <a:solidFill>
                  <a:srgbClr val="183A43"/>
                </a:solidFill>
                <a:latin typeface="Courier New"/>
                <a:ea typeface="Courier New"/>
                <a:cs typeface="Courier New"/>
              </a:rPr>
              <a:t>).ravel()</a:t>
            </a:r>
          </a:p>
        </p:txBody>
      </p:sp>
      <p:sp>
        <p:nvSpPr>
          <p:cNvPr id="4" name="">
            <a:extLst xmlns:a="http://schemas.openxmlformats.org/drawingml/2006/main">
              <a:ext uri="{FF2B5EF4-FFF2-40B4-BE49-F238E27FC236}">
                <a16:creationId xmlns:a16="http://schemas.microsoft.com/office/drawing/2014/main" id="{E65C3324-1E76-4CE6-8FE9-DB0CDCCD0940}"/>
              </a:ext>
            </a:extLst>
          </p:cNvPr>
          <p:cNvSpPr>
            <a:spLocks xmlns:a="http://schemas.openxmlformats.org/drawingml/2006/main" noGrp="1"/>
          </p:cNvSpPr>
          <p:nvPr/>
        </p:nvSpPr>
        <p:spPr>
          <a:xfrm xmlns:a="http://schemas.openxmlformats.org/drawingml/2006/main">
            <a:off x="1047750" y="48577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67C80"/>
                </a:solidFill>
                <a:latin typeface="Arial"/>
                <a:ea typeface="Arial"/>
                <a:cs typeface="Arial"/>
              </a:defRPr>
            </a:pPr>
            <a:r>
              <a:rPr sz="2025" b="1">
                <a:solidFill>
                  <a:srgbClr val="167C80"/>
                </a:solidFill>
                <a:latin typeface="Arial"/>
                <a:ea typeface="Arial"/>
                <a:cs typeface="Arial"/>
              </a:rPr>
              <a:t>Sensitivity = TP / (TP + FN)       Specificity = TN / (TN + FP)</a:t>
            </a:r>
          </a:p>
        </p:txBody>
      </p:sp>
    </p:spTree>
    <p:extLst>
      <p:ext uri="{BB962C8B-B14F-4D97-AF65-F5344CB8AC3E}">
        <p14:creationId xmlns:p14="http://schemas.microsoft.com/office/powerpoint/2010/main" val="904014200"/>
      </p:ext>
    </p:extLst>
  </p:cSld>
</p:sld>
</file>

<file path=ppt/slides/slide1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6B7B47-F037-4BED-AB17-2EAB796AFD9A}"/>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63345"/>
                </a:solidFill>
                <a:latin typeface="Arial"/>
                <a:ea typeface="Arial"/>
                <a:cs typeface="Arial"/>
              </a:defRPr>
            </a:pPr>
            <a:r>
              <a:rPr sz="3300" b="1">
                <a:solidFill>
                  <a:srgbClr val="163345"/>
                </a:solidFill>
                <a:latin typeface="Arial"/>
                <a:ea typeface="Arial"/>
                <a:cs typeface="Arial"/>
              </a:rPr>
              <a:t>Held-out results · counts and ranking</a:t>
            </a:r>
          </a:p>
        </p:txBody>
      </p:sp>
      <p:sp>
        <p:nvSpPr>
          <p:cNvPr id="2" name="">
            <a:extLst xmlns:a="http://schemas.openxmlformats.org/drawingml/2006/main">
              <a:ext uri="{FF2B5EF4-FFF2-40B4-BE49-F238E27FC236}">
                <a16:creationId xmlns:a16="http://schemas.microsoft.com/office/drawing/2014/main" id="{ABA3DE95-4AA8-429F-9538-B859E169F424}"/>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36A77"/>
                </a:solidFill>
                <a:latin typeface="Arial"/>
                <a:ea typeface="Arial"/>
                <a:cs typeface="Arial"/>
              </a:defRPr>
            </a:pPr>
            <a:r>
              <a:rPr sz="1350" b="0">
                <a:solidFill>
                  <a:srgbClr val="536A77"/>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BA06092D-6D2A-4762-957E-937DC8A105B1}"/>
              </a:ext>
            </a:extLst>
          </p:cNvPr>
          <p:cNvSpPr>
            <a:spLocks xmlns:a="http://schemas.openxmlformats.org/drawingml/2006/main" noGrp="1"/>
          </p:cNvSpPr>
          <p:nvPr/>
        </p:nvSpPr>
        <p:spPr>
          <a:xfrm xmlns:a="http://schemas.openxmlformats.org/drawingml/2006/main">
            <a:off x="838200" y="1381125"/>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63345"/>
                </a:solidFill>
                <a:latin typeface="Arial"/>
                <a:ea typeface="Arial"/>
                <a:cs typeface="Arial"/>
              </a:defRPr>
            </a:pPr>
            <a:r>
              <a:rPr sz="1950" b="1">
                <a:solidFill>
                  <a:srgbClr val="163345"/>
                </a:solidFill>
                <a:latin typeface="Arial"/>
                <a:ea typeface="Arial"/>
                <a:cs typeface="Arial"/>
              </a:rPr>
              <a:t>ROC curve · test-set AUC = 0.996</a:t>
            </a:r>
          </a:p>
        </p:txBody>
      </p:sp>
      <p:graphicFrame>
        <p:nvGraphicFramePr>
          <p:cNvPr id="11" name="Chart"/>
          <p:cNvGraphicFramePr/>
          <p:nvPr/>
        </p:nvGraphicFramePr>
        <p:xfrm>
          <a:off xmlns:a="http://schemas.openxmlformats.org/drawingml/2006/main" x="762000" y="1809750"/>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684d15370806498f"/>
          </a:graphicData>
        </a:graphic>
      </p:graphicFrame>
      <p:sp>
        <p:nvSpPr>
          <p:cNvPr id="5" name="">
            <a:extLst xmlns:a="http://schemas.openxmlformats.org/drawingml/2006/main">
              <a:ext uri="{FF2B5EF4-FFF2-40B4-BE49-F238E27FC236}">
                <a16:creationId xmlns:a16="http://schemas.microsoft.com/office/drawing/2014/main" id="{A7D3A2B3-2051-411A-ADBB-DBCF347375B0}"/>
              </a:ext>
            </a:extLst>
          </p:cNvPr>
          <p:cNvSpPr>
            <a:spLocks xmlns:a="http://schemas.openxmlformats.org/drawingml/2006/main" noGrp="1"/>
          </p:cNvSpPr>
          <p:nvPr/>
        </p:nvSpPr>
        <p:spPr>
          <a:xfrm xmlns:a="http://schemas.openxmlformats.org/drawingml/2006/main">
            <a:off x="7667625" y="15716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740"/>
          </a:bodyPr>
          <a:lstStyle xmlns:a="http://schemas.openxmlformats.org/drawingml/2006/main"/>
          <a:p xmlns:a="http://schemas.openxmlformats.org/drawingml/2006/main">
            <a:pPr>
              <a:defRPr sz="1800" b="1">
                <a:solidFill>
                  <a:srgbClr val="163345"/>
                </a:solidFill>
                <a:latin typeface="Arial"/>
                <a:ea typeface="Arial"/>
                <a:cs typeface="Arial"/>
              </a:defRPr>
            </a:pPr>
            <a:r>
              <a:rPr sz="1800" b="1">
                <a:solidFill>
                  <a:srgbClr val="163345"/>
                </a:solidFill>
                <a:latin typeface="Arial"/>
                <a:ea typeface="Arial"/>
                <a:cs typeface="Arial"/>
              </a:rPr>
              <a:t>Confusion matrix · threshold 0.50</a:t>
            </a:r>
          </a:p>
        </p:txBody>
      </p:sp>
      <p:graphicFrame>
        <p:nvGraphicFramePr>
          <p:cNvPr id="13" name=""/>
          <p:cNvGraphicFramePr/>
          <p:nvPr/>
        </p:nvGraphicFramePr>
        <p:xfrm>
          <a:off xmlns:a="http://schemas.openxmlformats.org/drawingml/2006/main" x="7524750" y="2095500"/>
          <a:ext xmlns:a="http://schemas.openxmlformats.org/drawingml/2006/main" cx="3857625" cy="2047875"/>
        </p:xfrm>
        <a:graphic xmlns:a="http://schemas.openxmlformats.org/drawingml/2006/main">
          <a:graphicData uri="http://schemas.openxmlformats.org/drawingml/2006/table">
            <a:tbl>
              <a:tblPr firstRow="1" bandRow="1"/>
              <a:tblGrid>
                <a:gridCol w="1238250"/>
                <a:gridCol w="1285875"/>
                <a:gridCol w="1333500"/>
              </a:tblGrid>
              <a:tr h="682625">
                <a:tc>
                  <a:txBody>
                    <a:bodyPr/>
                    <a:lstStyle/>
                    <a:p>
                      <a:r>
                        <a:rPr sz="1125" b="1">
                          <a:solidFill>
                            <a:srgbClr val="FFFFFF"/>
                          </a:solidFill>
                        </a:rPr>
                        <a:t>Actual</a:t>
                      </a:r>
                    </a:p>
                  </a:txBody>
                  <a:tcPr marL="91440" marR="91440" marT="45720" marB="45720">
                    <a:solidFill>
                      <a:srgbClr val="163345"/>
                    </a:solidFill>
                  </a:tcPr>
                </a:tc>
                <a:tc>
                  <a:txBody>
                    <a:bodyPr/>
                    <a:lstStyle/>
                    <a:p>
                      <a:r>
                        <a:rPr sz="1125" b="1">
                          <a:solidFill>
                            <a:srgbClr val="FFFFFF"/>
                          </a:solidFill>
                        </a:rPr>
                        <a:t>Pred. benign</a:t>
                      </a:r>
                    </a:p>
                  </a:txBody>
                  <a:tcPr marL="91440" marR="91440" marT="45720" marB="45720">
                    <a:solidFill>
                      <a:srgbClr val="163345"/>
                    </a:solidFill>
                  </a:tcPr>
                </a:tc>
                <a:tc>
                  <a:txBody>
                    <a:bodyPr/>
                    <a:lstStyle/>
                    <a:p>
                      <a:r>
                        <a:rPr sz="1125" b="1">
                          <a:solidFill>
                            <a:srgbClr val="FFFFFF"/>
                          </a:solidFill>
                        </a:rPr>
                        <a:t>Pred. malignant</a:t>
                      </a:r>
                    </a:p>
                  </a:txBody>
                  <a:tcPr marL="91440" marR="91440" marT="45720" marB="45720">
                    <a:solidFill>
                      <a:srgbClr val="163345"/>
                    </a:solidFill>
                  </a:tcPr>
                </a:tc>
              </a:tr>
              <a:tr h="682625">
                <a:tc>
                  <a:txBody>
                    <a:bodyPr/>
                    <a:lstStyle/>
                    <a:p>
                      <a:r>
                        <a:rPr sz="1275">
                          <a:solidFill>
                            <a:srgbClr val="263D4B"/>
                          </a:solidFill>
                        </a:rPr>
                        <a:t>Benign</a:t>
                      </a:r>
                    </a:p>
                  </a:txBody>
                  <a:tcPr marL="91440" marR="91440" marT="45720" marB="45720"/>
                </a:tc>
                <a:tc>
                  <a:txBody>
                    <a:bodyPr/>
                    <a:lstStyle/>
                    <a:p>
                      <a:r>
                        <a:rPr sz="1275">
                          <a:solidFill>
                            <a:srgbClr val="263D4B"/>
                          </a:solidFill>
                        </a:rPr>
                        <a:t>71</a:t>
                      </a:r>
                    </a:p>
                  </a:txBody>
                  <a:tcPr marL="91440" marR="91440" marT="45720" marB="45720"/>
                </a:tc>
                <a:tc>
                  <a:txBody>
                    <a:bodyPr/>
                    <a:lstStyle/>
                    <a:p>
                      <a:r>
                        <a:rPr sz="1275">
                          <a:solidFill>
                            <a:srgbClr val="263D4B"/>
                          </a:solidFill>
                        </a:rPr>
                        <a:t>1</a:t>
                      </a:r>
                    </a:p>
                  </a:txBody>
                  <a:tcPr marL="91440" marR="91440" marT="45720" marB="45720"/>
                </a:tc>
              </a:tr>
              <a:tr h="682625">
                <a:tc>
                  <a:txBody>
                    <a:bodyPr/>
                    <a:lstStyle/>
                    <a:p>
                      <a:r>
                        <a:rPr sz="1275">
                          <a:solidFill>
                            <a:srgbClr val="263D4B"/>
                          </a:solidFill>
                        </a:rPr>
                        <a:t>Malignant</a:t>
                      </a:r>
                    </a:p>
                  </a:txBody>
                  <a:tcPr marL="91440" marR="91440" marT="45720" marB="45720"/>
                </a:tc>
                <a:tc>
                  <a:txBody>
                    <a:bodyPr/>
                    <a:lstStyle/>
                    <a:p>
                      <a:r>
                        <a:rPr sz="1275">
                          <a:solidFill>
                            <a:srgbClr val="263D4B"/>
                          </a:solidFill>
                        </a:rPr>
                        <a:t>3</a:t>
                      </a:r>
                    </a:p>
                  </a:txBody>
                  <a:tcPr marL="91440" marR="91440" marT="45720" marB="45720"/>
                </a:tc>
                <a:tc>
                  <a:txBody>
                    <a:bodyPr/>
                    <a:lstStyle/>
                    <a:p>
                      <a:r>
                        <a:rPr sz="1275">
                          <a:solidFill>
                            <a:srgbClr val="263D4B"/>
                          </a:solidFill>
                        </a:rPr>
                        <a:t>39</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EE36D074-F048-43AF-BDB1-AA7AF8F1854D}"/>
              </a:ext>
            </a:extLst>
          </p:cNvPr>
          <p:cNvSpPr>
            <a:spLocks xmlns:a="http://schemas.openxmlformats.org/drawingml/2006/main" noGrp="1"/>
          </p:cNvSpPr>
          <p:nvPr/>
        </p:nvSpPr>
        <p:spPr>
          <a:xfrm xmlns:a="http://schemas.openxmlformats.org/drawingml/2006/main">
            <a:off x="7667625" y="4476750"/>
            <a:ext cx="3524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263D4B"/>
                </a:solidFill>
                <a:latin typeface="Arial"/>
                <a:ea typeface="Arial"/>
                <a:cs typeface="Arial"/>
              </a:defRPr>
            </a:pPr>
            <a:r>
              <a:rPr sz="1650" b="0">
                <a:solidFill>
                  <a:srgbClr val="263D4B"/>
                </a:solidFill>
                <a:latin typeface="Arial"/>
                <a:ea typeface="Arial"/>
                <a:cs typeface="Arial"/>
              </a:rPr>
              <a:t>Sensitivity  39 / 42 = 92.9%</a:t>
            </a:r>
          </a:p>
          <a:p xmlns:a="http://schemas.openxmlformats.org/drawingml/2006/main">
            <a:pPr>
              <a:defRPr sz="1650" b="0">
                <a:solidFill>
                  <a:srgbClr val="263D4B"/>
                </a:solidFill>
                <a:latin typeface="Arial"/>
                <a:ea typeface="Arial"/>
                <a:cs typeface="Arial"/>
              </a:defRPr>
            </a:pPr>
            <a:r>
              <a:rPr sz="1650" b="0">
                <a:solidFill>
                  <a:srgbClr val="263D4B"/>
                </a:solidFill>
                <a:latin typeface="Arial"/>
                <a:ea typeface="Arial"/>
                <a:cs typeface="Arial"/>
              </a:rPr>
              <a:t>Specificity   71 / 72 = 98.6%</a:t>
            </a:r>
          </a:p>
          <a:p xmlns:a="http://schemas.openxmlformats.org/drawingml/2006/main">
            <a:pPr>
              <a:defRPr sz="1650" b="0">
                <a:solidFill>
                  <a:srgbClr val="263D4B"/>
                </a:solidFill>
                <a:latin typeface="Arial"/>
                <a:ea typeface="Arial"/>
                <a:cs typeface="Arial"/>
              </a:defRPr>
            </a:pPr>
            <a:r>
              <a:rPr sz="1650" b="0">
                <a:solidFill>
                  <a:srgbClr val="263D4B"/>
                </a:solidFill>
                <a:latin typeface="Arial"/>
                <a:ea typeface="Arial"/>
                <a:cs typeface="Arial"/>
              </a:rPr>
              <a:t>Accuracy      110 / 114 = 96.5%</a:t>
            </a:r>
          </a:p>
        </p:txBody>
      </p:sp>
    </p:spTree>
    <p:extLst>
      <p:ext uri="{BB962C8B-B14F-4D97-AF65-F5344CB8AC3E}">
        <p14:creationId xmlns:p14="http://schemas.microsoft.com/office/powerpoint/2010/main" val="212694981"/>
      </p:ext>
    </p:extLst>
  </p:cSld>
</p:sld>
</file>

<file path=ppt/slides/slide1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900D82-78F4-4720-90EF-DC7407387FAF}"/>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63345"/>
                </a:solidFill>
                <a:latin typeface="Arial"/>
                <a:ea typeface="Arial"/>
                <a:cs typeface="Arial"/>
              </a:defRPr>
            </a:pPr>
            <a:r>
              <a:rPr sz="3300" b="1">
                <a:solidFill>
                  <a:srgbClr val="163345"/>
                </a:solidFill>
                <a:latin typeface="Arial"/>
                <a:ea typeface="Arial"/>
                <a:cs typeface="Arial"/>
              </a:rPr>
              <a:t>Coefficient view · useful, with limits</a:t>
            </a:r>
          </a:p>
        </p:txBody>
      </p:sp>
      <p:sp>
        <p:nvSpPr>
          <p:cNvPr id="2" name="">
            <a:extLst xmlns:a="http://schemas.openxmlformats.org/drawingml/2006/main">
              <a:ext uri="{FF2B5EF4-FFF2-40B4-BE49-F238E27FC236}">
                <a16:creationId xmlns:a16="http://schemas.microsoft.com/office/drawing/2014/main" id="{C0977E58-2991-4B9E-B085-BB905D7840B2}"/>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36A77"/>
                </a:solidFill>
                <a:latin typeface="Arial"/>
                <a:ea typeface="Arial"/>
                <a:cs typeface="Arial"/>
              </a:defRPr>
            </a:pPr>
            <a:r>
              <a:rPr sz="1350" b="0">
                <a:solidFill>
                  <a:srgbClr val="536A77"/>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8A229636-FEFD-4869-A384-8EB5482F8DBE}"/>
              </a:ext>
            </a:extLst>
          </p:cNvPr>
          <p:cNvSpPr>
            <a:spLocks xmlns:a="http://schemas.openxmlformats.org/drawingml/2006/main" noGrp="1"/>
          </p:cNvSpPr>
          <p:nvPr/>
        </p:nvSpPr>
        <p:spPr>
          <a:xfrm xmlns:a="http://schemas.openxmlformats.org/drawingml/2006/main">
            <a:off x="952500" y="1381125"/>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163345"/>
                </a:solidFill>
                <a:latin typeface="Arial"/>
                <a:ea typeface="Arial"/>
                <a:cs typeface="Arial"/>
              </a:defRPr>
            </a:pPr>
            <a:r>
              <a:rPr sz="2100" b="1">
                <a:solidFill>
                  <a:srgbClr val="163345"/>
                </a:solidFill>
                <a:latin typeface="Arial"/>
                <a:ea typeface="Arial"/>
                <a:cs typeface="Arial"/>
              </a:rPr>
              <a:t>Largest absolute standardized coefficients</a:t>
            </a:r>
          </a:p>
        </p:txBody>
      </p:sp>
      <p:graphicFrame>
        <p:nvGraphicFramePr>
          <p:cNvPr id="9" name="Chart"/>
          <p:cNvGraphicFramePr/>
          <p:nvPr/>
        </p:nvGraphicFramePr>
        <p:xfrm>
          <a:off xmlns:a="http://schemas.openxmlformats.org/drawingml/2006/main" x="952500" y="1857375"/>
          <a:ext xmlns:a="http://schemas.openxmlformats.org/drawingml/2006/main" cx="10001250" cy="3333750"/>
        </p:xfrm>
        <a:graphic xmlns:a="http://schemas.openxmlformats.org/drawingml/2006/main">
          <a:graphicData uri="http://schemas.openxmlformats.org/drawingml/2006/chart">
            <c:chart xmlns:r="http://schemas.openxmlformats.org/officeDocument/2006/relationships" xmlns:c="http://schemas.openxmlformats.org/drawingml/2006/chart" r:id="R6e0810a9d0b3422f"/>
          </a:graphicData>
        </a:graphic>
      </p:graphicFrame>
      <p:sp>
        <p:nvSpPr>
          <p:cNvPr id="5" name="">
            <a:extLst xmlns:a="http://schemas.openxmlformats.org/drawingml/2006/main">
              <a:ext uri="{FF2B5EF4-FFF2-40B4-BE49-F238E27FC236}">
                <a16:creationId xmlns:a16="http://schemas.microsoft.com/office/drawing/2014/main" id="{C23D7AE2-C15C-4E25-B6AB-290C5AAD8B01}"/>
              </a:ext>
            </a:extLst>
          </p:cNvPr>
          <p:cNvSpPr>
            <a:spLocks xmlns:a="http://schemas.openxmlformats.org/drawingml/2006/main" noGrp="1"/>
          </p:cNvSpPr>
          <p:nvPr/>
        </p:nvSpPr>
        <p:spPr>
          <a:xfrm xmlns:a="http://schemas.openxmlformats.org/drawingml/2006/main">
            <a:off x="1000125" y="5381625"/>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B3543C"/>
                </a:solidFill>
                <a:latin typeface="Arial"/>
                <a:ea typeface="Arial"/>
                <a:cs typeface="Arial"/>
              </a:defRPr>
            </a:pPr>
            <a:r>
              <a:rPr sz="1800" b="1">
                <a:solidFill>
                  <a:srgbClr val="B3543C"/>
                </a:solidFill>
                <a:latin typeface="Arial"/>
                <a:ea typeface="Arial"/>
                <a:cs typeface="Arial"/>
              </a:rPr>
              <a:t>A coefficient is a model weight, not a causal effect.</a:t>
            </a:r>
          </a:p>
        </p:txBody>
      </p:sp>
    </p:spTree>
    <p:extLst>
      <p:ext uri="{BB962C8B-B14F-4D97-AF65-F5344CB8AC3E}">
        <p14:creationId xmlns:p14="http://schemas.microsoft.com/office/powerpoint/2010/main" val="1735093947"/>
      </p:ext>
    </p:extLst>
  </p:cSld>
</p:sld>
</file>

<file path=ppt/slides/slide1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3B268B-3F3A-4AA4-A1F6-5079C27DF8EC}"/>
              </a:ext>
            </a:extLst>
          </p:cNvPr>
          <p:cNvSpPr>
            <a:spLocks xmlns:a="http://schemas.openxmlformats.org/drawingml/2006/main" noGrp="1"/>
          </p:cNvSpPr>
          <p:nvPr/>
        </p:nvSpPr>
        <p:spPr>
          <a:xfrm xmlns:a="http://schemas.openxmlformats.org/drawingml/2006/main">
            <a:off x="723900" y="4572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63345"/>
                </a:solidFill>
                <a:latin typeface="Arial"/>
                <a:ea typeface="Arial"/>
                <a:cs typeface="Arial"/>
              </a:defRPr>
            </a:pPr>
            <a:r>
              <a:rPr sz="3300" b="1">
                <a:solidFill>
                  <a:srgbClr val="163345"/>
                </a:solidFill>
                <a:latin typeface="Arial"/>
                <a:ea typeface="Arial"/>
                <a:cs typeface="Arial"/>
              </a:rPr>
              <a:t>Practice · change the decision threshold</a:t>
            </a:r>
          </a:p>
        </p:txBody>
      </p:sp>
      <p:sp>
        <p:nvSpPr>
          <p:cNvPr id="2" name="">
            <a:extLst xmlns:a="http://schemas.openxmlformats.org/drawingml/2006/main">
              <a:ext uri="{FF2B5EF4-FFF2-40B4-BE49-F238E27FC236}">
                <a16:creationId xmlns:a16="http://schemas.microsoft.com/office/drawing/2014/main" id="{A96FC82D-B6D3-40E2-92F4-8195AFCAF40A}"/>
              </a:ext>
            </a:extLst>
          </p:cNvPr>
          <p:cNvSpPr>
            <a:spLocks xmlns:a="http://schemas.openxmlformats.org/drawingml/2006/main" noGrp="1"/>
          </p:cNvSpPr>
          <p:nvPr/>
        </p:nvSpPr>
        <p:spPr>
          <a:xfrm xmlns:a="http://schemas.openxmlformats.org/drawingml/2006/main">
            <a:off x="11049000" y="5953125"/>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36A77"/>
                </a:solidFill>
                <a:latin typeface="Arial"/>
                <a:ea typeface="Arial"/>
                <a:cs typeface="Arial"/>
              </a:defRPr>
            </a:pPr>
            <a:r>
              <a:rPr sz="1350" b="0">
                <a:solidFill>
                  <a:srgbClr val="536A77"/>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9D5B3253-7992-4893-8CDC-71708C38D637}"/>
              </a:ext>
            </a:extLst>
          </p:cNvPr>
          <p:cNvSpPr>
            <a:spLocks xmlns:a="http://schemas.openxmlformats.org/drawingml/2006/main" noGrp="1"/>
          </p:cNvSpPr>
          <p:nvPr/>
        </p:nvSpPr>
        <p:spPr>
          <a:xfrm xmlns:a="http://schemas.openxmlformats.org/drawingml/2006/main">
            <a:off x="952500" y="1381125"/>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163345"/>
                </a:solidFill>
                <a:latin typeface="Arial"/>
                <a:ea typeface="Arial"/>
                <a:cs typeface="Arial"/>
              </a:defRPr>
            </a:pPr>
            <a:r>
              <a:rPr sz="2100" b="1">
                <a:solidFill>
                  <a:srgbClr val="163345"/>
                </a:solidFill>
                <a:latin typeface="Arial"/>
                <a:ea typeface="Arial"/>
                <a:cs typeface="Arial"/>
              </a:rPr>
              <a:t>Use outputs/predictions.csv; do not refit the model.</a:t>
            </a:r>
          </a:p>
        </p:txBody>
      </p:sp>
      <p:sp>
        <p:nvSpPr>
          <p:cNvPr id="4" name="">
            <a:extLst xmlns:a="http://schemas.openxmlformats.org/drawingml/2006/main">
              <a:ext uri="{FF2B5EF4-FFF2-40B4-BE49-F238E27FC236}">
                <a16:creationId xmlns:a16="http://schemas.microsoft.com/office/drawing/2014/main" id="{C5A6AD58-74FC-4BBB-A9DC-CE78DF55C5FA}"/>
              </a:ext>
            </a:extLst>
          </p:cNvPr>
          <p:cNvSpPr>
            <a:spLocks xmlns:a="http://schemas.openxmlformats.org/drawingml/2006/main" noGrp="1"/>
          </p:cNvSpPr>
          <p:nvPr/>
        </p:nvSpPr>
        <p:spPr>
          <a:xfrm xmlns:a="http://schemas.openxmlformats.org/drawingml/2006/main">
            <a:off x="1066800" y="2143125"/>
            <a:ext cx="10001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263D4B"/>
                </a:solidFill>
                <a:latin typeface="Arial"/>
                <a:ea typeface="Arial"/>
                <a:cs typeface="Arial"/>
              </a:defRPr>
            </a:pPr>
            <a:r>
              <a:rPr sz="2025" b="0">
                <a:solidFill>
                  <a:srgbClr val="263D4B"/>
                </a:solidFill>
                <a:latin typeface="Arial"/>
                <a:ea typeface="Arial"/>
                <a:cs typeface="Arial"/>
              </a:rPr>
              <a:t>1  Recompute predictions at 0.25 and 0.75</a:t>
            </a:r>
          </a:p>
          <a:p xmlns:a="http://schemas.openxmlformats.org/drawingml/2006/main">
            <a:pPr>
              <a:defRPr sz="2025" b="0">
                <a:solidFill>
                  <a:srgbClr val="263D4B"/>
                </a:solidFill>
                <a:latin typeface="Arial"/>
                <a:ea typeface="Arial"/>
                <a:cs typeface="Arial"/>
              </a:defRPr>
            </a:pPr>
            <a:r>
              <a:rPr sz="2025" b="0">
                <a:solidFill>
                  <a:srgbClr val="263D4B"/>
                </a:solidFill>
                <a:latin typeface="Arial"/>
                <a:ea typeface="Arial"/>
                <a:cs typeface="Arial"/>
              </a:rPr>
              <a:t>2  Count false positives and false negatives</a:t>
            </a:r>
          </a:p>
          <a:p xmlns:a="http://schemas.openxmlformats.org/drawingml/2006/main">
            <a:pPr>
              <a:defRPr sz="2025" b="0">
                <a:solidFill>
                  <a:srgbClr val="263D4B"/>
                </a:solidFill>
                <a:latin typeface="Arial"/>
                <a:ea typeface="Arial"/>
                <a:cs typeface="Arial"/>
              </a:defRPr>
            </a:pPr>
            <a:r>
              <a:rPr sz="2025" b="0">
                <a:solidFill>
                  <a:srgbClr val="263D4B"/>
                </a:solidFill>
                <a:latin typeface="Arial"/>
                <a:ea typeface="Arial"/>
                <a:cs typeface="Arial"/>
              </a:rPr>
              <a:t>3  Explain the trade-off in plain language</a:t>
            </a:r>
          </a:p>
          <a:p xmlns:a="http://schemas.openxmlformats.org/drawingml/2006/main">
            <a:pPr>
              <a:defRPr sz="2025" b="0">
                <a:solidFill>
                  <a:srgbClr val="263D4B"/>
                </a:solidFill>
                <a:latin typeface="Arial"/>
                <a:ea typeface="Arial"/>
                <a:cs typeface="Arial"/>
              </a:defRPr>
            </a:pPr>
            <a:r>
              <a:rPr sz="2025" b="0">
                <a:solidFill>
                  <a:srgbClr val="263D4B"/>
                </a:solidFill>
                <a:latin typeface="Arial"/>
                <a:ea typeface="Arial"/>
                <a:cs typeface="Arial"/>
              </a:rPr>
              <a:t>4  Say what evidence is still missing before clinical use</a:t>
            </a:r>
          </a:p>
        </p:txBody>
      </p:sp>
      <p:sp>
        <p:nvSpPr>
          <p:cNvPr id="5" name="">
            <a:extLst xmlns:a="http://schemas.openxmlformats.org/drawingml/2006/main">
              <a:ext uri="{FF2B5EF4-FFF2-40B4-BE49-F238E27FC236}">
                <a16:creationId xmlns:a16="http://schemas.microsoft.com/office/drawing/2014/main" id="{9A05B833-E608-44D4-8DAC-3109B3F40014}"/>
              </a:ext>
            </a:extLst>
          </p:cNvPr>
          <p:cNvSpPr>
            <a:spLocks xmlns:a="http://schemas.openxmlformats.org/drawingml/2006/main" noGrp="1"/>
          </p:cNvSpPr>
          <p:nvPr/>
        </p:nvSpPr>
        <p:spPr>
          <a:xfrm xmlns:a="http://schemas.openxmlformats.org/drawingml/2006/main">
            <a:off x="1047750" y="495300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67C80"/>
                </a:solidFill>
                <a:latin typeface="Arial"/>
                <a:ea typeface="Arial"/>
                <a:cs typeface="Arial"/>
              </a:defRPr>
            </a:pPr>
            <a:r>
              <a:rPr sz="1875" b="1">
                <a:solidFill>
                  <a:srgbClr val="167C80"/>
                </a:solidFill>
                <a:latin typeface="Arial"/>
                <a:ea typeface="Arial"/>
                <a:cs typeface="Arial"/>
              </a:rPr>
              <a:t>Discuss: who chooses an acceptable trade-off, and using what evidence?</a:t>
            </a:r>
          </a:p>
        </p:txBody>
      </p:sp>
    </p:spTree>
    <p:extLst>
      <p:ext uri="{BB962C8B-B14F-4D97-AF65-F5344CB8AC3E}">
        <p14:creationId xmlns:p14="http://schemas.microsoft.com/office/powerpoint/2010/main" val="735296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2026-09-29T02:21:36.8250000Z</dcterms:created>
  <dcterms:modified xsi:type="dcterms:W3CDTF">2026-09-29T02:21:36.8260000Z</dcterms:modified>
</coreProperties>
</file>
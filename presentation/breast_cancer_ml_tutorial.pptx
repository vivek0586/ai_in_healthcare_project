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6b68800196a414c" /><Relationship Type="http://schemas.openxmlformats.org/officeDocument/2006/relationships/extended-properties" Target="/docProps/app.xml" Id="R0b0fae1d318d4996" /><Relationship Type="http://schemas.openxmlformats.org/officeDocument/2006/relationships/officeDocument" Target="/ppt/presentation.xml" Id="R74738797fb8f4aa9" /></Relationships>
</file>

<file path=ppt/presentation.xml><?xml version="1.0" encoding="utf-8"?>
<p:presentation xmlns:p="http://schemas.openxmlformats.org/presentationml/2006/main">
  <p:sldMasterIdLst>
    <p:sldMasterId xmlns:r="http://schemas.openxmlformats.org/officeDocument/2006/relationships" id="2147483648" r:id="R947a51fd1ad0418f"/>
  </p:sldMasterIdLst>
  <p:notesMasterIdLst>
    <p:notesMasterId xmlns:r="http://schemas.openxmlformats.org/officeDocument/2006/relationships" r:id="Re22531dc77bb4470"/>
  </p:notesMasterIdLst>
  <p:sldIdLst>
    <p:sldId xmlns:r="http://schemas.openxmlformats.org/officeDocument/2006/relationships" id="256" r:id="Rc3ae22fc21f542a6"/>
    <p:sldId xmlns:r="http://schemas.openxmlformats.org/officeDocument/2006/relationships" id="257" r:id="R180c4784296346b5"/>
    <p:sldId xmlns:r="http://schemas.openxmlformats.org/officeDocument/2006/relationships" id="258" r:id="Rc1e47e16041149ef"/>
    <p:sldId xmlns:r="http://schemas.openxmlformats.org/officeDocument/2006/relationships" id="259" r:id="R65cb595908a743f9"/>
    <p:sldId xmlns:r="http://schemas.openxmlformats.org/officeDocument/2006/relationships" id="260" r:id="R5312145be9df4957"/>
    <p:sldId xmlns:r="http://schemas.openxmlformats.org/officeDocument/2006/relationships" id="261" r:id="Rcba96c6eb87745bd"/>
    <p:sldId xmlns:r="http://schemas.openxmlformats.org/officeDocument/2006/relationships" id="262" r:id="R3a3656c13b6b4a7e"/>
    <p:sldId xmlns:r="http://schemas.openxmlformats.org/officeDocument/2006/relationships" id="263" r:id="R25adb111538142e2"/>
    <p:sldId xmlns:r="http://schemas.openxmlformats.org/officeDocument/2006/relationships" id="264" r:id="R4efd15dddf134600"/>
    <p:sldId xmlns:r="http://schemas.openxmlformats.org/officeDocument/2006/relationships" id="265" r:id="R435082947aae4016"/>
    <p:sldId xmlns:r="http://schemas.openxmlformats.org/officeDocument/2006/relationships" id="266" r:id="R43a9b078b8714f3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e40c51d3eaf4416" /><Relationship Type="http://schemas.openxmlformats.org/officeDocument/2006/relationships/slideMaster" Target="/ppt/slideMasters/slideMaster1.xml" Id="R947a51fd1ad0418f" /><Relationship Type="http://schemas.openxmlformats.org/officeDocument/2006/relationships/notesMaster" Target="/ppt/notesMasters/notesMaster1.xml" Id="Re22531dc77bb4470" /><Relationship Type="http://schemas.openxmlformats.org/officeDocument/2006/relationships/presProps" Target="/ppt/presProps.xml" Id="R8959a8e664e94aaf" /><Relationship Type="http://schemas.openxmlformats.org/officeDocument/2006/relationships/tableStyles" Target="/ppt/tableStyles.xml" Id="Rc2c54f70454f4036" /><Relationship Type="http://schemas.openxmlformats.org/officeDocument/2006/relationships/slide" Target="/ppt/slides/slide1.xml" Id="Rc3ae22fc21f542a6" /><Relationship Type="http://schemas.openxmlformats.org/officeDocument/2006/relationships/slide" Target="/ppt/slides/slide2.xml" Id="R180c4784296346b5" /><Relationship Type="http://schemas.openxmlformats.org/officeDocument/2006/relationships/slide" Target="/ppt/slides/slide3.xml" Id="Rc1e47e16041149ef" /><Relationship Type="http://schemas.openxmlformats.org/officeDocument/2006/relationships/slide" Target="/ppt/slides/slide4.xml" Id="R65cb595908a743f9" /><Relationship Type="http://schemas.openxmlformats.org/officeDocument/2006/relationships/slide" Target="/ppt/slides/slide5.xml" Id="R5312145be9df4957" /><Relationship Type="http://schemas.openxmlformats.org/officeDocument/2006/relationships/slide" Target="/ppt/slides/slide6.xml" Id="Rcba96c6eb87745bd" /><Relationship Type="http://schemas.openxmlformats.org/officeDocument/2006/relationships/slide" Target="/ppt/slides/slide7.xml" Id="R3a3656c13b6b4a7e" /><Relationship Type="http://schemas.openxmlformats.org/officeDocument/2006/relationships/slide" Target="/ppt/slides/slide8.xml" Id="R25adb111538142e2" /><Relationship Type="http://schemas.openxmlformats.org/officeDocument/2006/relationships/slide" Target="/ppt/slides/slide9.xml" Id="R4efd15dddf134600" /><Relationship Type="http://schemas.openxmlformats.org/officeDocument/2006/relationships/slide" Target="/ppt/slides/slide10.xml" Id="R435082947aae4016" /><Relationship Type="http://schemas.openxmlformats.org/officeDocument/2006/relationships/slide" Target="/ppt/slides/slide11.xml" Id="R43a9b078b8714f3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60dd91e8abb429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5ab74b730374757" /><Relationship Type="http://schemas.openxmlformats.org/officeDocument/2006/relationships/notesMaster" Target="/ppt/notesMasters/notesMaster1.xml" Id="R431a312c8cc645eb" /></Relationships>
</file>

<file path=ppt/notesSlides/_rels/notesSlide2.xml.rels>&#65279;<?xml version="1.0" encoding="utf-8"?><Relationships xmlns="http://schemas.openxmlformats.org/package/2006/relationships"><Relationship Type="http://schemas.openxmlformats.org/officeDocument/2006/relationships/slide" Target="/ppt/slides/slide2.xml" Id="Rcf173118589c447a" /><Relationship Type="http://schemas.openxmlformats.org/officeDocument/2006/relationships/notesMaster" Target="/ppt/notesMasters/notesMaster1.xml" Id="R848e0db45ee04120" /></Relationships>
</file>

<file path=ppt/notesSlides/_rels/notesSlide3.xml.rels>&#65279;<?xml version="1.0" encoding="utf-8"?><Relationships xmlns="http://schemas.openxmlformats.org/package/2006/relationships"><Relationship Type="http://schemas.openxmlformats.org/officeDocument/2006/relationships/slide" Target="/ppt/slides/slide3.xml" Id="Re4075ab075294670" /><Relationship Type="http://schemas.openxmlformats.org/officeDocument/2006/relationships/notesMaster" Target="/ppt/notesMasters/notesMaster1.xml" Id="Rafcc25f24aa44173" /></Relationships>
</file>

<file path=ppt/notesSlides/_rels/notesSlide4.xml.rels>&#65279;<?xml version="1.0" encoding="utf-8"?><Relationships xmlns="http://schemas.openxmlformats.org/package/2006/relationships"><Relationship Type="http://schemas.openxmlformats.org/officeDocument/2006/relationships/slide" Target="/ppt/slides/slide4.xml" Id="R859fc361b3014547" /><Relationship Type="http://schemas.openxmlformats.org/officeDocument/2006/relationships/notesMaster" Target="/ppt/notesMasters/notesMaster1.xml" Id="R667e030b43404aeb" /></Relationships>
</file>

<file path=ppt/notesSlides/_rels/notesSlide5.xml.rels>&#65279;<?xml version="1.0" encoding="utf-8"?><Relationships xmlns="http://schemas.openxmlformats.org/package/2006/relationships"><Relationship Type="http://schemas.openxmlformats.org/officeDocument/2006/relationships/slide" Target="/ppt/slides/slide5.xml" Id="Rb5516fb92f044d6f" /><Relationship Type="http://schemas.openxmlformats.org/officeDocument/2006/relationships/notesMaster" Target="/ppt/notesMasters/notesMaster1.xml" Id="R159b8a155bc7430f" /></Relationships>
</file>

<file path=ppt/notesSlides/_rels/notesSlide6.xml.rels>&#65279;<?xml version="1.0" encoding="utf-8"?><Relationships xmlns="http://schemas.openxmlformats.org/package/2006/relationships"><Relationship Type="http://schemas.openxmlformats.org/officeDocument/2006/relationships/slide" Target="/ppt/slides/slide6.xml" Id="R2348507488f547f4" /><Relationship Type="http://schemas.openxmlformats.org/officeDocument/2006/relationships/notesMaster" Target="/ppt/notesMasters/notesMaster1.xml" Id="R4e0dfca139cc4a75" /></Relationships>
</file>

<file path=ppt/notesSlides/_rels/notesSlide7.xml.rels>&#65279;<?xml version="1.0" encoding="utf-8"?><Relationships xmlns="http://schemas.openxmlformats.org/package/2006/relationships"><Relationship Type="http://schemas.openxmlformats.org/officeDocument/2006/relationships/slide" Target="/ppt/slides/slide7.xml" Id="Rd9397020ce564e36" /><Relationship Type="http://schemas.openxmlformats.org/officeDocument/2006/relationships/notesMaster" Target="/ppt/notesMasters/notesMaster1.xml" Id="Rd41892d39e7e4764" /></Relationships>
</file>

<file path=ppt/notesSlides/_rels/notesSlide8.xml.rels>&#65279;<?xml version="1.0" encoding="utf-8"?><Relationships xmlns="http://schemas.openxmlformats.org/package/2006/relationships"><Relationship Type="http://schemas.openxmlformats.org/officeDocument/2006/relationships/slide" Target="/ppt/slides/slide8.xml" Id="Rb0032a8ddc124911" /><Relationship Type="http://schemas.openxmlformats.org/officeDocument/2006/relationships/notesMaster" Target="/ppt/notesMasters/notesMaster1.xml" Id="R713324eef15d4b5f" /></Relationships>
</file>

<file path=ppt/notesSlides/_rels/notesSlide9.xml.rels>&#65279;<?xml version="1.0" encoding="utf-8"?><Relationships xmlns="http://schemas.openxmlformats.org/package/2006/relationships"><Relationship Type="http://schemas.openxmlformats.org/officeDocument/2006/relationships/slide" Target="/ppt/slides/slide9.xml" Id="R3eb07b1ec3c9487e" /><Relationship Type="http://schemas.openxmlformats.org/officeDocument/2006/relationships/notesMaster" Target="/ppt/notesMasters/notesMaster1.xml" Id="R21b122874d04477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fdd0cbeb4c3491e" /><Relationship Type="http://schemas.openxmlformats.org/officeDocument/2006/relationships/notesMaster" Target="/ppt/notesMasters/notesMaster1.xml" Id="R60a9be5c3c974a2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2e85f70fd804295" /><Relationship Type="http://schemas.openxmlformats.org/officeDocument/2006/relationships/notesMaster" Target="/ppt/notesMasters/notesMaster1.xml" Id="R13cf7055cb3f4e9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This lesson builds a small, complete classification workflow that students can run from a laptop. The data are public and bundled with scikit-learn. The example is for teaching machine learning, not for screening or care.</a:t>
            </a:r>
          </a:p>
          <a:p xmlns:a="http://schemas.openxmlformats.org/drawingml/2006/main">
            <a:r>
              <a:t/>
            </a:r>
          </a:p>
          <a:p xmlns:a="http://schemas.openxmlformats.org/drawingml/2006/main">
            <a:r>
              <a:t>Code notebook and project: https://github.com/vivek0586/AI_In_Healthcare_Project/blob/main/notebooks/breast_cancer_tutorial.ipynb</a:t>
            </a:r>
          </a:p>
          <a:p xmlns:a="http://schemas.openxmlformats.org/drawingml/2006/main">
            <a:r>
              <a:t>Repository: https://github.com/vivek0586/AI_In_Healthcare_Project</a:t>
            </a:r>
          </a:p>
          <a:p xmlns:a="http://schemas.openxmlformats.org/drawingml/2006/main">
            <a:r>
              <a:t/>
            </a:r>
          </a:p>
          <a:p xmlns:a="http://schemas.openxmlformats.org/drawingml/2006/main">
            <a:r>
              <a:t>If the repository branch or path changes after publishing, update these links.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Ask the group to name the inputs and output before discussing algorithms. The benchmark records whether a sampled tumor is benign or malignant. This is classification of an existing label, not forecasting future cancer and not screening a general population. Reinforce that the model is an educational artifact.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that each row is a sample, and each of the 30 columns is a real-valued measurement. The feature family includes mean, standard error, and worst values across cell-nucleus properties. The class counts are imbalanced, so we preserve the proportions with stratified splitting. The copy is included in scikit-learn and requires no patient-data credentials.</a:t>
            </a:r>
          </a:p>
          <a:p xmlns:a="http://schemas.openxmlformats.org/drawingml/2006/main">
            <a:r>
              <a:t/>
            </a:r>
          </a:p>
          <a:p xmlns:a="http://schemas.openxmlformats.org/drawingml/2006/main">
            <a:r>
              <a:t>Sources:</a:t>
            </a:r>
          </a:p>
          <a:p xmlns:a="http://schemas.openxmlformats.org/drawingml/2006/main">
            <a:r>
              <a:t>scikit-learn dataset reference: https://scikit-learn.org/stable/modules/generated/sklearn.datasets.load_breast_cancer.html</a:t>
            </a:r>
          </a:p>
          <a:p xmlns:a="http://schemas.openxmlformats.org/drawingml/2006/main">
            <a:r>
              <a:t>UCI dataset record: https://archive.ics.uci.edu/dataset/17/breast+cancer+wisconsin+diagnostic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Scikit-learn encodes benign as 1 and malignant as 0. The tutorial deliberately reverses that encoding so positive means malignant. This makes the word sensitivity easy to explain: among truly malignant test samples, how many did the model flag? Ask learners what would become confusing if they encoded labels without checking the dataset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use a stratified 80/20 split with random_state 42. Stratification keeps the class ratio similar, while the seed makes the partition repeatable. The 455 training samples are used to fit the scaler and classifier; the 114 test samples are used once for the final evaluation. Point out that a fixed seed does not remove the uncertainty caused by a small sample.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StandardScaler puts features on comparable scales. It estimates means and standard deviations from the training set only, because it sits inside the pipeline. Logistic regression is our deliberately simple baseline. Avoid claiming it is clinically interpretable just because it has coefficients; correlated features complicate coefficient meaning.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Report these numbers as one fixed held-out split, not as a guaranteed rate in clinical settings. Accuracy is 110 of 114. Sensitivity is 39 of 42 malignant samples. Specificity is 71 of 72 benign samples. Precision depends on the case mix and is not automatically transferable to a population with a different prevalence. AUC summarizes ranking across thresholds; it does not select a safe threshold.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Walk through the matrix row by row. Of 72 benign samples, one was flagged malignant. Of 42 malignant samples, three were missed at the fixed threshold. In a real application, the relative harm and downstream consequences of each error would need clinical and operational study. Do not choose a threshold by maximizing a metric alone.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pipeline standardizes measurements and the fitted logistic regression assigns a weight to each scaled feature. The coefficients.csv file lists those weights for discussion. Their magnitude and sign are conditional on the model, the other features, and their correlations. They do not show that changing a measurement causes a diagnosis, and they should not be presented as a clinical explanation.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 direct about the evidence gap. This sample-level benchmark does not test data from another hospital, changes in imaging equipment, calibration, subgroup fairness, workflow effects, or patient outcomes. A genuine clinical model would need carefully designed external and prospective validation, clinical input, monitoring, governance, and regulatory review as appropriate. This class exercise has none of those claims.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Invite students to clone the linked repository, install requirements, and run the script twice. The replication audit in the project records two byte-identical metrics files in the current environment. Ask learners to change the random seed, inspect metric movement, and explain why repeatability of code is different from external validity.</a:t>
            </a:r>
          </a:p>
          <a:p xmlns:a="http://schemas.openxmlformats.org/drawingml/2006/main">
            <a:r>
              <a:t/>
            </a:r>
          </a:p>
          <a:p xmlns:a="http://schemas.openxmlformats.org/drawingml/2006/main">
            <a:r>
              <a:t>Project: https://github.com/vivek0586/AI_In_Healthcare_Project</a:t>
            </a:r>
          </a:p>
          <a:p xmlns:a="http://schemas.openxmlformats.org/drawingml/2006/main">
            <a:r>
              <a:t>Dataset source: https://archive.ics.uci.edu/dataset/17/breast+cancer+wisconsin+diagnostic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6a5c9c27b4f4ca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6949e6267964105" /><Relationship Type="http://schemas.openxmlformats.org/officeDocument/2006/relationships/slideLayout" Target="/ppt/slideLayouts/slideLayout1.xml" Id="R0d0e12f758cd46b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d0e12f758cd46b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b606e5124dc4bad" /><Relationship Type="http://schemas.openxmlformats.org/officeDocument/2006/relationships/notesSlide" Target="/ppt/notesSlides/notesSlide1.xml" Id="R0fc9cb7d05ce40ba"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54e555a208824d91" /><Relationship Type="http://schemas.openxmlformats.org/officeDocument/2006/relationships/notesSlide" Target="/ppt/notesSlides/notesSlide2.xml" Id="R2894f16064c5450b"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dbf259c415ed4d87" /><Relationship Type="http://schemas.openxmlformats.org/officeDocument/2006/relationships/notesSlide" Target="/ppt/notesSlides/notesSlide3.xml" Id="R09a5446dd521442c"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88af473cf8eb4ecf" /><Relationship Type="http://schemas.openxmlformats.org/officeDocument/2006/relationships/notesSlide" Target="/ppt/notesSlides/notesSlide4.xml" Id="Ra03f756a36af4954"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2885bebceb94f89" /><Relationship Type="http://schemas.openxmlformats.org/officeDocument/2006/relationships/notesSlide" Target="/ppt/notesSlides/notesSlide5.xml" Id="R6750cb17203e4120"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45ab9f73c1f4f0c" /><Relationship Type="http://schemas.openxmlformats.org/officeDocument/2006/relationships/notesSlide" Target="/ppt/notesSlides/notesSlide6.xml" Id="Re718bac6a8134a99"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1370a43bc9ca49e1" /><Relationship Type="http://schemas.openxmlformats.org/officeDocument/2006/relationships/notesSlide" Target="/ppt/notesSlides/notesSlide7.xml" Id="R402da05f51d841d8"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4e1b948fe0194a1a" /><Relationship Type="http://schemas.openxmlformats.org/officeDocument/2006/relationships/notesSlide" Target="/ppt/notesSlides/notesSlide8.xml" Id="Re0bb82c736db492e"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b605e60a53f54b33" /><Relationship Type="http://schemas.openxmlformats.org/officeDocument/2006/relationships/notesSlide" Target="/ppt/notesSlides/notesSlide9.xml" Id="R504eed2887e3451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a2ef7eaef83c4d90" /><Relationship Type="http://schemas.openxmlformats.org/officeDocument/2006/relationships/notesSlide" Target="/ppt/notesSlides/notesSlide10.xml" Id="Rf062bbe8864e475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11ad7a0c03344b65" /><Relationship Type="http://schemas.openxmlformats.org/officeDocument/2006/relationships/notesSlide" Target="/ppt/notesSlides/notesSlide11.xml" Id="R9434faccd76d4ae2" /></Relationships>
</file>

<file path=ppt/slides/slide1.xml><?xml version="1.0" encoding="utf-8"?>
<p:sld xmlns:p="http://schemas.openxmlformats.org/presentationml/2006/main">
  <p:cSld>
    <p:bg>
      <p:bgPr>
        <a:solidFill xmlns:a="http://schemas.openxmlformats.org/drawingml/2006/main">
          <a:srgbClr val="F7F8F5"/>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28D037D5-7E68-4D62-B169-E53E9BF8AADC}"/>
              </a:ext>
            </a:extLst>
          </p:cNvPr>
          <p:cNvSpPr>
            <a:spLocks xmlns:a="http://schemas.openxmlformats.org/drawingml/2006/main" noGrp="1"/>
          </p:cNvSpPr>
          <p:nvPr/>
        </p:nvSpPr>
        <p:spPr>
          <a:xfrm xmlns:a="http://schemas.openxmlformats.org/drawingml/2006/main">
            <a:off x="876300" y="1762125"/>
            <a:ext cx="10287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4350" b="1">
                <a:solidFill>
                  <a:srgbClr val="163345"/>
                </a:solidFill>
                <a:latin typeface="Arial"/>
                <a:ea typeface="Arial"/>
                <a:cs typeface="Arial"/>
              </a:defRPr>
            </a:pPr>
            <a:r>
              <a:rPr sz="4350" b="1">
                <a:solidFill>
                  <a:srgbClr val="163345"/>
                </a:solidFill>
                <a:latin typeface="Arial"/>
                <a:ea typeface="Arial"/>
                <a:cs typeface="Arial"/>
              </a:rPr>
              <a:t>Breast tumor classification</a:t>
            </a:r>
          </a:p>
        </p:txBody>
      </p:sp>
      <p:sp>
        <p:nvSpPr>
          <p:cNvPr id="2" name="">
            <a:extLst xmlns:a="http://schemas.openxmlformats.org/drawingml/2006/main">
              <a:ext uri="{FF2B5EF4-FFF2-40B4-BE49-F238E27FC236}">
                <a16:creationId xmlns:a16="http://schemas.microsoft.com/office/drawing/2014/main" id="{A1EA10BB-2881-4241-8B7A-D016DC8E2E91}"/>
              </a:ext>
            </a:extLst>
          </p:cNvPr>
          <p:cNvSpPr>
            <a:spLocks xmlns:a="http://schemas.openxmlformats.org/drawingml/2006/main" noGrp="1"/>
          </p:cNvSpPr>
          <p:nvPr/>
        </p:nvSpPr>
        <p:spPr>
          <a:xfrm xmlns:a="http://schemas.openxmlformats.org/drawingml/2006/main">
            <a:off x="914400" y="2762250"/>
            <a:ext cx="9239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2400" b="0">
                <a:solidFill>
                  <a:srgbClr val="167C80"/>
                </a:solidFill>
                <a:latin typeface="Arial"/>
                <a:ea typeface="Arial"/>
                <a:cs typeface="Arial"/>
              </a:defRPr>
            </a:pPr>
            <a:r>
              <a:rPr sz="2400" b="0">
                <a:solidFill>
                  <a:srgbClr val="167C80"/>
                </a:solidFill>
                <a:latin typeface="Arial"/>
                <a:ea typeface="Arial"/>
                <a:cs typeface="Arial"/>
              </a:rPr>
              <a:t>A student tutorial in logistic regression</a:t>
            </a:r>
          </a:p>
        </p:txBody>
      </p:sp>
      <p:sp>
        <p:nvSpPr>
          <p:cNvPr id="3" name="">
            <a:extLst xmlns:a="http://schemas.openxmlformats.org/drawingml/2006/main">
              <a:ext uri="{FF2B5EF4-FFF2-40B4-BE49-F238E27FC236}">
                <a16:creationId xmlns:a16="http://schemas.microsoft.com/office/drawing/2014/main" id="{9FA55C57-8870-4AF3-90BA-47233A8FCCEF}"/>
              </a:ext>
            </a:extLst>
          </p:cNvPr>
          <p:cNvSpPr>
            <a:spLocks xmlns:a="http://schemas.openxmlformats.org/drawingml/2006/main" noGrp="1"/>
          </p:cNvSpPr>
          <p:nvPr/>
        </p:nvSpPr>
        <p:spPr>
          <a:xfrm xmlns:a="http://schemas.openxmlformats.org/drawingml/2006/main">
            <a:off x="914400" y="3619500"/>
            <a:ext cx="971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875" b="0">
                <a:solidFill>
                  <a:srgbClr val="536A77"/>
                </a:solidFill>
                <a:latin typeface="Arial"/>
                <a:ea typeface="Arial"/>
                <a:cs typeface="Arial"/>
              </a:defRPr>
            </a:pPr>
            <a:r>
              <a:rPr sz="1875" b="0">
                <a:solidFill>
                  <a:srgbClr val="536A77"/>
                </a:solidFill>
                <a:latin typeface="Arial"/>
                <a:ea typeface="Arial"/>
                <a:cs typeface="Arial"/>
              </a:rPr>
              <a:t>Public data  ·  leakage-safe pipeline  ·  careful evaluation</a:t>
            </a:r>
          </a:p>
        </p:txBody>
      </p:sp>
      <p:sp>
        <p:nvSpPr>
          <p:cNvPr id="4" name="">
            <a:extLst xmlns:a="http://schemas.openxmlformats.org/drawingml/2006/main">
              <a:ext uri="{FF2B5EF4-FFF2-40B4-BE49-F238E27FC236}">
                <a16:creationId xmlns:a16="http://schemas.microsoft.com/office/drawing/2014/main" id="{7CB75D0C-1315-426D-B9D0-702B2D2D6776}"/>
              </a:ext>
            </a:extLst>
          </p:cNvPr>
          <p:cNvSpPr>
            <a:spLocks xmlns:a="http://schemas.openxmlformats.org/drawingml/2006/main" noGrp="1"/>
          </p:cNvSpPr>
          <p:nvPr/>
        </p:nvSpPr>
        <p:spPr>
          <a:xfrm xmlns:a="http://schemas.openxmlformats.org/drawingml/2006/main">
            <a:off x="914400" y="5095875"/>
            <a:ext cx="9715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650" b="1">
                <a:solidFill>
                  <a:srgbClr val="B3543C"/>
                </a:solidFill>
                <a:latin typeface="Arial"/>
                <a:ea typeface="Arial"/>
                <a:cs typeface="Arial"/>
              </a:defRPr>
            </a:pPr>
            <a:r>
              <a:rPr sz="1650" b="1">
                <a:solidFill>
                  <a:srgbClr val="B3543C"/>
                </a:solidFill>
                <a:latin typeface="Arial"/>
                <a:ea typeface="Arial"/>
                <a:cs typeface="Arial"/>
              </a:rPr>
              <a:t>Teaching example only — not a clinical model</a:t>
            </a:r>
          </a:p>
        </p:txBody>
      </p:sp>
    </p:spTree>
    <p:extLst>
      <p:ext uri="{BB962C8B-B14F-4D97-AF65-F5344CB8AC3E}">
        <p14:creationId xmlns:p14="http://schemas.microsoft.com/office/powerpoint/2010/main" val="1723102062"/>
      </p:ext>
    </p:extLst>
  </p:cSld>
</p:sld>
</file>

<file path=ppt/slides/slide2.xml><?xml version="1.0" encoding="utf-8"?>
<p:sld xmlns:p="http://schemas.openxmlformats.org/presentationml/2006/main">
  <p:cSld>
    <p:bg>
      <p:bgPr>
        <a:solidFill xmlns:a="http://schemas.openxmlformats.org/drawingml/2006/main">
          <a:srgbClr val="F7F8F5"/>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8212B588-3D04-49E1-B7CD-1DB081043C07}"/>
              </a:ext>
            </a:extLst>
          </p:cNvPr>
          <p:cNvSpPr>
            <a:spLocks xmlns:a="http://schemas.openxmlformats.org/drawingml/2006/main" noGrp="1"/>
          </p:cNvSpPr>
          <p:nvPr/>
        </p:nvSpPr>
        <p:spPr>
          <a:xfrm xmlns:a="http://schemas.openxmlformats.org/drawingml/2006/main">
            <a:off x="723900" y="457200"/>
            <a:ext cx="107442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3300" b="1">
                <a:solidFill>
                  <a:srgbClr val="163345"/>
                </a:solidFill>
                <a:latin typeface="Arial"/>
                <a:ea typeface="Arial"/>
                <a:cs typeface="Arial"/>
              </a:defRPr>
            </a:pPr>
            <a:r>
              <a:rPr sz="3300" b="1">
                <a:solidFill>
                  <a:srgbClr val="163345"/>
                </a:solidFill>
                <a:latin typeface="Arial"/>
                <a:ea typeface="Arial"/>
                <a:cs typeface="Arial"/>
              </a:rPr>
              <a:t>The learning question</a:t>
            </a:r>
          </a:p>
        </p:txBody>
      </p:sp>
      <p:sp>
        <p:nvSpPr>
          <p:cNvPr id="2" name="">
            <a:extLst xmlns:a="http://schemas.openxmlformats.org/drawingml/2006/main">
              <a:ext uri="{FF2B5EF4-FFF2-40B4-BE49-F238E27FC236}">
                <a16:creationId xmlns:a16="http://schemas.microsoft.com/office/drawing/2014/main" id="{9E371E65-3986-459A-A215-ADB98FCD4330}"/>
              </a:ext>
            </a:extLst>
          </p:cNvPr>
          <p:cNvSpPr>
            <a:spLocks xmlns:a="http://schemas.openxmlformats.org/drawingml/2006/main" noGrp="1"/>
          </p:cNvSpPr>
          <p:nvPr/>
        </p:nvSpPr>
        <p:spPr>
          <a:xfrm xmlns:a="http://schemas.openxmlformats.org/drawingml/2006/main">
            <a:off x="11049000" y="5953125"/>
            <a:ext cx="51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350" b="0">
                <a:solidFill>
                  <a:srgbClr val="536A77"/>
                </a:solidFill>
                <a:latin typeface="Arial"/>
                <a:ea typeface="Arial"/>
                <a:cs typeface="Arial"/>
              </a:defRPr>
            </a:pPr>
            <a:r>
              <a:rPr sz="1350" b="0">
                <a:solidFill>
                  <a:srgbClr val="536A77"/>
                </a:solidFill>
                <a:latin typeface="Arial"/>
                <a:ea typeface="Arial"/>
                <a:cs typeface="Arial"/>
              </a:rPr>
              <a:t>02</a:t>
            </a:r>
          </a:p>
        </p:txBody>
      </p:sp>
      <p:sp>
        <p:nvSpPr>
          <p:cNvPr id="3" name="">
            <a:extLst xmlns:a="http://schemas.openxmlformats.org/drawingml/2006/main">
              <a:ext uri="{FF2B5EF4-FFF2-40B4-BE49-F238E27FC236}">
                <a16:creationId xmlns:a16="http://schemas.microsoft.com/office/drawing/2014/main" id="{E7DA8F2A-8FCF-4931-B249-B2CB9461DCE7}"/>
              </a:ext>
            </a:extLst>
          </p:cNvPr>
          <p:cNvSpPr>
            <a:spLocks xmlns:a="http://schemas.openxmlformats.org/drawingml/2006/main" noGrp="1"/>
          </p:cNvSpPr>
          <p:nvPr/>
        </p:nvSpPr>
        <p:spPr>
          <a:xfrm xmlns:a="http://schemas.openxmlformats.org/drawingml/2006/main">
            <a:off x="876300" y="1666875"/>
            <a:ext cx="1000125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2625" b="1">
                <a:solidFill>
                  <a:srgbClr val="163345"/>
                </a:solidFill>
                <a:latin typeface="Arial"/>
                <a:ea typeface="Arial"/>
                <a:cs typeface="Arial"/>
              </a:defRPr>
            </a:pPr>
            <a:r>
              <a:rPr sz="2625" b="1">
                <a:solidFill>
                  <a:srgbClr val="163345"/>
                </a:solidFill>
                <a:latin typeface="Arial"/>
                <a:ea typeface="Arial"/>
                <a:cs typeface="Arial"/>
              </a:rPr>
              <a:t>Can 30 measurements from a digitized fine-needle aspirate sample distinguish the recorded malignant and benign labels?</a:t>
            </a:r>
          </a:p>
        </p:txBody>
      </p:sp>
      <p:sp>
        <p:nvSpPr>
          <p:cNvPr id="4" name="">
            <a:extLst xmlns:a="http://schemas.openxmlformats.org/drawingml/2006/main">
              <a:ext uri="{FF2B5EF4-FFF2-40B4-BE49-F238E27FC236}">
                <a16:creationId xmlns:a16="http://schemas.microsoft.com/office/drawing/2014/main" id="{3F3272B6-E064-4919-9627-F02799479E4D}"/>
              </a:ext>
            </a:extLst>
          </p:cNvPr>
          <p:cNvSpPr>
            <a:spLocks xmlns:a="http://schemas.openxmlformats.org/drawingml/2006/main" noGrp="1"/>
          </p:cNvSpPr>
          <p:nvPr/>
        </p:nvSpPr>
        <p:spPr>
          <a:xfrm xmlns:a="http://schemas.openxmlformats.org/drawingml/2006/main">
            <a:off x="914400" y="3810000"/>
            <a:ext cx="95250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2025" b="0">
                <a:solidFill>
                  <a:srgbClr val="263D4B"/>
                </a:solidFill>
                <a:latin typeface="Arial"/>
                <a:ea typeface="Arial"/>
                <a:cs typeface="Arial"/>
              </a:defRPr>
            </a:pPr>
            <a:r>
              <a:rPr sz="2025" b="0">
                <a:solidFill>
                  <a:srgbClr val="263D4B"/>
                </a:solidFill>
                <a:latin typeface="Arial"/>
                <a:ea typeface="Arial"/>
                <a:cs typeface="Arial"/>
              </a:rPr>
              <a:t>Input  ·  numeric cell-nucleus measurements</a:t>
            </a:r>
          </a:p>
          <a:p xmlns:a="http://schemas.openxmlformats.org/drawingml/2006/main">
            <a:pPr>
              <a:defRPr sz="2025" b="0">
                <a:solidFill>
                  <a:srgbClr val="263D4B"/>
                </a:solidFill>
                <a:latin typeface="Arial"/>
                <a:ea typeface="Arial"/>
                <a:cs typeface="Arial"/>
              </a:defRPr>
            </a:pPr>
            <a:r>
              <a:rPr sz="2025" b="0">
                <a:solidFill>
                  <a:srgbClr val="263D4B"/>
                </a:solidFill>
                <a:latin typeface="Arial"/>
                <a:ea typeface="Arial"/>
                <a:cs typeface="Arial"/>
              </a:rPr>
              <a:t>Output  ·  malignant or benign label</a:t>
            </a:r>
          </a:p>
          <a:p xmlns:a="http://schemas.openxmlformats.org/drawingml/2006/main">
            <a:pPr>
              <a:defRPr sz="2025" b="0">
                <a:solidFill>
                  <a:srgbClr val="263D4B"/>
                </a:solidFill>
                <a:latin typeface="Arial"/>
                <a:ea typeface="Arial"/>
                <a:cs typeface="Arial"/>
              </a:defRPr>
            </a:pPr>
            <a:r>
              <a:rPr sz="2025" b="0">
                <a:solidFill>
                  <a:srgbClr val="263D4B"/>
                </a:solidFill>
                <a:latin typeface="Arial"/>
                <a:ea typeface="Arial"/>
                <a:cs typeface="Arial"/>
              </a:rPr>
              <a:t>Unit  ·  one sample in the benchmark dataset</a:t>
            </a:r>
          </a:p>
        </p:txBody>
      </p:sp>
    </p:spTree>
    <p:extLst>
      <p:ext uri="{BB962C8B-B14F-4D97-AF65-F5344CB8AC3E}">
        <p14:creationId xmlns:p14="http://schemas.microsoft.com/office/powerpoint/2010/main" val="1102083471"/>
      </p:ext>
    </p:extLst>
  </p:cSld>
</p:sld>
</file>

<file path=ppt/slides/slide3.xml><?xml version="1.0" encoding="utf-8"?>
<p:sld xmlns:p="http://schemas.openxmlformats.org/presentationml/2006/main">
  <p:cSld>
    <p:bg>
      <p:bgPr>
        <a:solidFill xmlns:a="http://schemas.openxmlformats.org/drawingml/2006/main">
          <a:srgbClr val="F7F8F5"/>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ABB1C9F-D05A-41FB-9EFB-8FD4BD76EFC0}"/>
              </a:ext>
            </a:extLst>
          </p:cNvPr>
          <p:cNvSpPr>
            <a:spLocks xmlns:a="http://schemas.openxmlformats.org/drawingml/2006/main" noGrp="1"/>
          </p:cNvSpPr>
          <p:nvPr/>
        </p:nvSpPr>
        <p:spPr>
          <a:xfrm xmlns:a="http://schemas.openxmlformats.org/drawingml/2006/main">
            <a:off x="723900" y="457200"/>
            <a:ext cx="107442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3300" b="1">
                <a:solidFill>
                  <a:srgbClr val="163345"/>
                </a:solidFill>
                <a:latin typeface="Arial"/>
                <a:ea typeface="Arial"/>
                <a:cs typeface="Arial"/>
              </a:defRPr>
            </a:pPr>
            <a:r>
              <a:rPr sz="3300" b="1">
                <a:solidFill>
                  <a:srgbClr val="163345"/>
                </a:solidFill>
                <a:latin typeface="Arial"/>
                <a:ea typeface="Arial"/>
                <a:cs typeface="Arial"/>
              </a:rPr>
              <a:t>A small, public benchmark</a:t>
            </a:r>
          </a:p>
        </p:txBody>
      </p:sp>
      <p:sp>
        <p:nvSpPr>
          <p:cNvPr id="2" name="">
            <a:extLst xmlns:a="http://schemas.openxmlformats.org/drawingml/2006/main">
              <a:ext uri="{FF2B5EF4-FFF2-40B4-BE49-F238E27FC236}">
                <a16:creationId xmlns:a16="http://schemas.microsoft.com/office/drawing/2014/main" id="{AFBDC027-F74E-4F71-A79C-947CA72177F5}"/>
              </a:ext>
            </a:extLst>
          </p:cNvPr>
          <p:cNvSpPr>
            <a:spLocks xmlns:a="http://schemas.openxmlformats.org/drawingml/2006/main" noGrp="1"/>
          </p:cNvSpPr>
          <p:nvPr/>
        </p:nvSpPr>
        <p:spPr>
          <a:xfrm xmlns:a="http://schemas.openxmlformats.org/drawingml/2006/main">
            <a:off x="11049000" y="5953125"/>
            <a:ext cx="51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350" b="0">
                <a:solidFill>
                  <a:srgbClr val="536A77"/>
                </a:solidFill>
                <a:latin typeface="Arial"/>
                <a:ea typeface="Arial"/>
                <a:cs typeface="Arial"/>
              </a:defRPr>
            </a:pPr>
            <a:r>
              <a:rPr sz="1350" b="0">
                <a:solidFill>
                  <a:srgbClr val="536A77"/>
                </a:solidFill>
                <a:latin typeface="Arial"/>
                <a:ea typeface="Arial"/>
                <a:cs typeface="Arial"/>
              </a:rPr>
              <a:t>03</a:t>
            </a:r>
          </a:p>
        </p:txBody>
      </p:sp>
      <p:sp>
        <p:nvSpPr>
          <p:cNvPr id="3" name="">
            <a:extLst xmlns:a="http://schemas.openxmlformats.org/drawingml/2006/main">
              <a:ext uri="{FF2B5EF4-FFF2-40B4-BE49-F238E27FC236}">
                <a16:creationId xmlns:a16="http://schemas.microsoft.com/office/drawing/2014/main" id="{980C5D1C-6EAF-4376-8257-3779967AFAB2}"/>
              </a:ext>
            </a:extLst>
          </p:cNvPr>
          <p:cNvSpPr>
            <a:spLocks xmlns:a="http://schemas.openxmlformats.org/drawingml/2006/main" noGrp="1"/>
          </p:cNvSpPr>
          <p:nvPr/>
        </p:nvSpPr>
        <p:spPr>
          <a:xfrm xmlns:a="http://schemas.openxmlformats.org/drawingml/2006/main">
            <a:off x="952500" y="1762125"/>
            <a:ext cx="238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5400" b="1">
                <a:solidFill>
                  <a:srgbClr val="167C80"/>
                </a:solidFill>
                <a:latin typeface="Arial"/>
                <a:ea typeface="Arial"/>
                <a:cs typeface="Arial"/>
              </a:defRPr>
            </a:pPr>
            <a:r>
              <a:rPr sz="5400" b="1">
                <a:solidFill>
                  <a:srgbClr val="167C80"/>
                </a:solidFill>
                <a:latin typeface="Arial"/>
                <a:ea typeface="Arial"/>
                <a:cs typeface="Arial"/>
              </a:rPr>
              <a:t>569</a:t>
            </a:r>
          </a:p>
        </p:txBody>
      </p:sp>
      <p:sp>
        <p:nvSpPr>
          <p:cNvPr id="4" name="">
            <a:extLst xmlns:a="http://schemas.openxmlformats.org/drawingml/2006/main">
              <a:ext uri="{FF2B5EF4-FFF2-40B4-BE49-F238E27FC236}">
                <a16:creationId xmlns:a16="http://schemas.microsoft.com/office/drawing/2014/main" id="{46E723CD-0166-49F5-847A-19F5E3D2F98C}"/>
              </a:ext>
            </a:extLst>
          </p:cNvPr>
          <p:cNvSpPr>
            <a:spLocks xmlns:a="http://schemas.openxmlformats.org/drawingml/2006/main" noGrp="1"/>
          </p:cNvSpPr>
          <p:nvPr/>
        </p:nvSpPr>
        <p:spPr>
          <a:xfrm xmlns:a="http://schemas.openxmlformats.org/drawingml/2006/main">
            <a:off x="1000125" y="2667000"/>
            <a:ext cx="2095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875" b="0">
                <a:solidFill>
                  <a:srgbClr val="536A77"/>
                </a:solidFill>
                <a:latin typeface="Arial"/>
                <a:ea typeface="Arial"/>
                <a:cs typeface="Arial"/>
              </a:defRPr>
            </a:pPr>
            <a:r>
              <a:rPr sz="1875" b="0">
                <a:solidFill>
                  <a:srgbClr val="536A77"/>
                </a:solidFill>
                <a:latin typeface="Arial"/>
                <a:ea typeface="Arial"/>
                <a:cs typeface="Arial"/>
              </a:rPr>
              <a:t>samples</a:t>
            </a:r>
          </a:p>
        </p:txBody>
      </p:sp>
      <p:sp>
        <p:nvSpPr>
          <p:cNvPr id="5" name="">
            <a:extLst xmlns:a="http://schemas.openxmlformats.org/drawingml/2006/main">
              <a:ext uri="{FF2B5EF4-FFF2-40B4-BE49-F238E27FC236}">
                <a16:creationId xmlns:a16="http://schemas.microsoft.com/office/drawing/2014/main" id="{5F0D26A5-0B37-43AE-B130-0A12085EEB2F}"/>
              </a:ext>
            </a:extLst>
          </p:cNvPr>
          <p:cNvSpPr>
            <a:spLocks xmlns:a="http://schemas.openxmlformats.org/drawingml/2006/main" noGrp="1"/>
          </p:cNvSpPr>
          <p:nvPr/>
        </p:nvSpPr>
        <p:spPr>
          <a:xfrm xmlns:a="http://schemas.openxmlformats.org/drawingml/2006/main">
            <a:off x="4381500" y="1762125"/>
            <a:ext cx="238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5400" b="1">
                <a:solidFill>
                  <a:srgbClr val="167C80"/>
                </a:solidFill>
                <a:latin typeface="Arial"/>
                <a:ea typeface="Arial"/>
                <a:cs typeface="Arial"/>
              </a:defRPr>
            </a:pPr>
            <a:r>
              <a:rPr sz="5400" b="1">
                <a:solidFill>
                  <a:srgbClr val="167C80"/>
                </a:solidFill>
                <a:latin typeface="Arial"/>
                <a:ea typeface="Arial"/>
                <a:cs typeface="Arial"/>
              </a:rPr>
              <a:t>30</a:t>
            </a:r>
          </a:p>
        </p:txBody>
      </p:sp>
      <p:sp>
        <p:nvSpPr>
          <p:cNvPr id="6" name="">
            <a:extLst xmlns:a="http://schemas.openxmlformats.org/drawingml/2006/main">
              <a:ext uri="{FF2B5EF4-FFF2-40B4-BE49-F238E27FC236}">
                <a16:creationId xmlns:a16="http://schemas.microsoft.com/office/drawing/2014/main" id="{5A0EFDCA-AF01-4CB2-9C3B-1A875418BB71}"/>
              </a:ext>
            </a:extLst>
          </p:cNvPr>
          <p:cNvSpPr>
            <a:spLocks xmlns:a="http://schemas.openxmlformats.org/drawingml/2006/main" noGrp="1"/>
          </p:cNvSpPr>
          <p:nvPr/>
        </p:nvSpPr>
        <p:spPr>
          <a:xfrm xmlns:a="http://schemas.openxmlformats.org/drawingml/2006/main">
            <a:off x="4429125" y="2667000"/>
            <a:ext cx="285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875" b="0">
                <a:solidFill>
                  <a:srgbClr val="536A77"/>
                </a:solidFill>
                <a:latin typeface="Arial"/>
                <a:ea typeface="Arial"/>
                <a:cs typeface="Arial"/>
              </a:defRPr>
            </a:pPr>
            <a:r>
              <a:rPr sz="1875" b="0">
                <a:solidFill>
                  <a:srgbClr val="536A77"/>
                </a:solidFill>
                <a:latin typeface="Arial"/>
                <a:ea typeface="Arial"/>
                <a:cs typeface="Arial"/>
              </a:rPr>
              <a:t>numeric features</a:t>
            </a:r>
          </a:p>
        </p:txBody>
      </p:sp>
      <p:sp>
        <p:nvSpPr>
          <p:cNvPr id="7" name="">
            <a:extLst xmlns:a="http://schemas.openxmlformats.org/drawingml/2006/main">
              <a:ext uri="{FF2B5EF4-FFF2-40B4-BE49-F238E27FC236}">
                <a16:creationId xmlns:a16="http://schemas.microsoft.com/office/drawing/2014/main" id="{E46A98A8-FF07-4094-A46C-21024F7CA8A8}"/>
              </a:ext>
            </a:extLst>
          </p:cNvPr>
          <p:cNvSpPr>
            <a:spLocks xmlns:a="http://schemas.openxmlformats.org/drawingml/2006/main" noGrp="1"/>
          </p:cNvSpPr>
          <p:nvPr/>
        </p:nvSpPr>
        <p:spPr>
          <a:xfrm xmlns:a="http://schemas.openxmlformats.org/drawingml/2006/main">
            <a:off x="7905750" y="1952625"/>
            <a:ext cx="2857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2400" b="1">
                <a:solidFill>
                  <a:srgbClr val="163345"/>
                </a:solidFill>
                <a:latin typeface="Arial"/>
                <a:ea typeface="Arial"/>
                <a:cs typeface="Arial"/>
              </a:defRPr>
            </a:pPr>
            <a:r>
              <a:rPr sz="2400" b="1">
                <a:solidFill>
                  <a:srgbClr val="163345"/>
                </a:solidFill>
                <a:latin typeface="Arial"/>
                <a:ea typeface="Arial"/>
                <a:cs typeface="Arial"/>
              </a:rPr>
              <a:t>212 malignant</a:t>
            </a:r>
          </a:p>
          <a:p xmlns:a="http://schemas.openxmlformats.org/drawingml/2006/main">
            <a:pPr>
              <a:defRPr sz="2400" b="1">
                <a:solidFill>
                  <a:srgbClr val="163345"/>
                </a:solidFill>
                <a:latin typeface="Arial"/>
                <a:ea typeface="Arial"/>
                <a:cs typeface="Arial"/>
              </a:defRPr>
            </a:pPr>
            <a:r>
              <a:rPr sz="2400" b="1">
                <a:solidFill>
                  <a:srgbClr val="163345"/>
                </a:solidFill>
                <a:latin typeface="Arial"/>
                <a:ea typeface="Arial"/>
                <a:cs typeface="Arial"/>
              </a:rPr>
              <a:t>357 benign</a:t>
            </a:r>
          </a:p>
        </p:txBody>
      </p:sp>
      <p:sp>
        <p:nvSpPr>
          <p:cNvPr id="8" name="">
            <a:extLst xmlns:a="http://schemas.openxmlformats.org/drawingml/2006/main">
              <a:ext uri="{FF2B5EF4-FFF2-40B4-BE49-F238E27FC236}">
                <a16:creationId xmlns:a16="http://schemas.microsoft.com/office/drawing/2014/main" id="{7A141745-EF3B-4C4F-88AA-B8C2C6804DDE}"/>
              </a:ext>
            </a:extLst>
          </p:cNvPr>
          <p:cNvSpPr>
            <a:spLocks xmlns:a="http://schemas.openxmlformats.org/drawingml/2006/main" noGrp="1"/>
          </p:cNvSpPr>
          <p:nvPr/>
        </p:nvSpPr>
        <p:spPr>
          <a:xfrm xmlns:a="http://schemas.openxmlformats.org/drawingml/2006/main">
            <a:off x="971550" y="4095750"/>
            <a:ext cx="100488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2025" b="0">
                <a:solidFill>
                  <a:srgbClr val="263D4B"/>
                </a:solidFill>
                <a:latin typeface="Arial"/>
                <a:ea typeface="Arial"/>
                <a:cs typeface="Arial"/>
              </a:defRPr>
            </a:pPr>
            <a:r>
              <a:rPr sz="2025" b="0">
                <a:solidFill>
                  <a:srgbClr val="263D4B"/>
                </a:solidFill>
                <a:latin typeface="Arial"/>
                <a:ea typeface="Arial"/>
                <a:cs typeface="Arial"/>
              </a:rPr>
              <a:t>Derived from digitized images; not routine EHR measurements</a:t>
            </a:r>
          </a:p>
        </p:txBody>
      </p:sp>
    </p:spTree>
    <p:extLst>
      <p:ext uri="{BB962C8B-B14F-4D97-AF65-F5344CB8AC3E}">
        <p14:creationId xmlns:p14="http://schemas.microsoft.com/office/powerpoint/2010/main" val="143250527"/>
      </p:ext>
    </p:extLst>
  </p:cSld>
</p:sld>
</file>

<file path=ppt/slides/slide4.xml><?xml version="1.0" encoding="utf-8"?>
<p:sld xmlns:p="http://schemas.openxmlformats.org/presentationml/2006/main">
  <p:cSld>
    <p:bg>
      <p:bgPr>
        <a:solidFill xmlns:a="http://schemas.openxmlformats.org/drawingml/2006/main">
          <a:srgbClr val="F7F8F5"/>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A4B838F2-9F3F-4D94-AA94-D05ECD1371F5}"/>
              </a:ext>
            </a:extLst>
          </p:cNvPr>
          <p:cNvSpPr>
            <a:spLocks xmlns:a="http://schemas.openxmlformats.org/drawingml/2006/main" noGrp="1"/>
          </p:cNvSpPr>
          <p:nvPr/>
        </p:nvSpPr>
        <p:spPr>
          <a:xfrm xmlns:a="http://schemas.openxmlformats.org/drawingml/2006/main">
            <a:off x="723900" y="457200"/>
            <a:ext cx="107442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3300" b="1">
                <a:solidFill>
                  <a:srgbClr val="163345"/>
                </a:solidFill>
                <a:latin typeface="Arial"/>
                <a:ea typeface="Arial"/>
                <a:cs typeface="Arial"/>
              </a:defRPr>
            </a:pPr>
            <a:r>
              <a:rPr sz="3300" b="1">
                <a:solidFill>
                  <a:srgbClr val="163345"/>
                </a:solidFill>
                <a:latin typeface="Arial"/>
                <a:ea typeface="Arial"/>
                <a:cs typeface="Arial"/>
              </a:rPr>
              <a:t>Define the positive class</a:t>
            </a:r>
          </a:p>
        </p:txBody>
      </p:sp>
      <p:sp>
        <p:nvSpPr>
          <p:cNvPr id="2" name="">
            <a:extLst xmlns:a="http://schemas.openxmlformats.org/drawingml/2006/main">
              <a:ext uri="{FF2B5EF4-FFF2-40B4-BE49-F238E27FC236}">
                <a16:creationId xmlns:a16="http://schemas.microsoft.com/office/drawing/2014/main" id="{3BAE7CD6-5319-4AA4-B749-B5BECC052E0A}"/>
              </a:ext>
            </a:extLst>
          </p:cNvPr>
          <p:cNvSpPr>
            <a:spLocks xmlns:a="http://schemas.openxmlformats.org/drawingml/2006/main" noGrp="1"/>
          </p:cNvSpPr>
          <p:nvPr/>
        </p:nvSpPr>
        <p:spPr>
          <a:xfrm xmlns:a="http://schemas.openxmlformats.org/drawingml/2006/main">
            <a:off x="11049000" y="5953125"/>
            <a:ext cx="51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350" b="0">
                <a:solidFill>
                  <a:srgbClr val="536A77"/>
                </a:solidFill>
                <a:latin typeface="Arial"/>
                <a:ea typeface="Arial"/>
                <a:cs typeface="Arial"/>
              </a:defRPr>
            </a:pPr>
            <a:r>
              <a:rPr sz="1350" b="0">
                <a:solidFill>
                  <a:srgbClr val="536A77"/>
                </a:solidFill>
                <a:latin typeface="Arial"/>
                <a:ea typeface="Arial"/>
                <a:cs typeface="Arial"/>
              </a:rPr>
              <a:t>04</a:t>
            </a:r>
          </a:p>
        </p:txBody>
      </p:sp>
      <p:sp>
        <p:nvSpPr>
          <p:cNvPr id="3" name="">
            <a:extLst xmlns:a="http://schemas.openxmlformats.org/drawingml/2006/main">
              <a:ext uri="{FF2B5EF4-FFF2-40B4-BE49-F238E27FC236}">
                <a16:creationId xmlns:a16="http://schemas.microsoft.com/office/drawing/2014/main" id="{1B5A7580-F871-4776-A25B-F2857288E2EC}"/>
              </a:ext>
            </a:extLst>
          </p:cNvPr>
          <p:cNvSpPr>
            <a:spLocks xmlns:a="http://schemas.openxmlformats.org/drawingml/2006/main" noGrp="1"/>
          </p:cNvSpPr>
          <p:nvPr/>
        </p:nvSpPr>
        <p:spPr>
          <a:xfrm xmlns:a="http://schemas.openxmlformats.org/drawingml/2006/main">
            <a:off x="895350" y="1714500"/>
            <a:ext cx="9525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3450" b="1">
                <a:solidFill>
                  <a:srgbClr val="167C80"/>
                </a:solidFill>
                <a:latin typeface="Arial"/>
                <a:ea typeface="Arial"/>
                <a:cs typeface="Arial"/>
              </a:defRPr>
            </a:pPr>
            <a:r>
              <a:rPr sz="3450" b="1">
                <a:solidFill>
                  <a:srgbClr val="167C80"/>
                </a:solidFill>
                <a:latin typeface="Arial"/>
                <a:ea typeface="Arial"/>
                <a:cs typeface="Arial"/>
              </a:rPr>
              <a:t>Positive = malignant</a:t>
            </a:r>
          </a:p>
        </p:txBody>
      </p:sp>
      <p:sp>
        <p:nvSpPr>
          <p:cNvPr id="4" name="">
            <a:extLst xmlns:a="http://schemas.openxmlformats.org/drawingml/2006/main">
              <a:ext uri="{FF2B5EF4-FFF2-40B4-BE49-F238E27FC236}">
                <a16:creationId xmlns:a16="http://schemas.microsoft.com/office/drawing/2014/main" id="{B6A5E211-1991-4862-966A-7BA482EF4D4B}"/>
              </a:ext>
            </a:extLst>
          </p:cNvPr>
          <p:cNvSpPr>
            <a:spLocks xmlns:a="http://schemas.openxmlformats.org/drawingml/2006/main" noGrp="1"/>
          </p:cNvSpPr>
          <p:nvPr/>
        </p:nvSpPr>
        <p:spPr>
          <a:xfrm xmlns:a="http://schemas.openxmlformats.org/drawingml/2006/main">
            <a:off x="952500" y="3000375"/>
            <a:ext cx="1000125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2100" b="0">
                <a:solidFill>
                  <a:srgbClr val="263D4B"/>
                </a:solidFill>
                <a:latin typeface="Arial"/>
                <a:ea typeface="Arial"/>
                <a:cs typeface="Arial"/>
              </a:defRPr>
            </a:pPr>
            <a:r>
              <a:rPr sz="2100" b="0">
                <a:solidFill>
                  <a:srgbClr val="263D4B"/>
                </a:solidFill>
                <a:latin typeface="Arial"/>
                <a:ea typeface="Arial"/>
                <a:cs typeface="Arial"/>
              </a:rPr>
              <a:t>Recall / sensitivity  →  share of malignant samples detected</a:t>
            </a:r>
          </a:p>
          <a:p xmlns:a="http://schemas.openxmlformats.org/drawingml/2006/main">
            <a:pPr>
              <a:defRPr sz="2100" b="0">
                <a:solidFill>
                  <a:srgbClr val="263D4B"/>
                </a:solidFill>
                <a:latin typeface="Arial"/>
                <a:ea typeface="Arial"/>
                <a:cs typeface="Arial"/>
              </a:defRPr>
            </a:pPr>
            <a:r>
              <a:rPr sz="2100" b="0">
                <a:solidFill>
                  <a:srgbClr val="263D4B"/>
                </a:solidFill>
                <a:latin typeface="Arial"/>
                <a:ea typeface="Arial"/>
                <a:cs typeface="Arial"/>
              </a:rPr>
              <a:t>Specificity  →  share of benign samples correctly left negative</a:t>
            </a:r>
          </a:p>
          <a:p xmlns:a="http://schemas.openxmlformats.org/drawingml/2006/main">
            <a:pPr>
              <a:defRPr sz="2100" b="0">
                <a:solidFill>
                  <a:srgbClr val="263D4B"/>
                </a:solidFill>
                <a:latin typeface="Arial"/>
                <a:ea typeface="Arial"/>
                <a:cs typeface="Arial"/>
              </a:defRPr>
            </a:pPr>
            <a:r>
              <a:rPr sz="2100" b="0">
                <a:solidFill>
                  <a:srgbClr val="263D4B"/>
                </a:solidFill>
                <a:latin typeface="Arial"/>
                <a:ea typeface="Arial"/>
                <a:cs typeface="Arial"/>
              </a:rPr>
              <a:t>False negative  →  malignant sample predicted benign</a:t>
            </a:r>
          </a:p>
        </p:txBody>
      </p:sp>
    </p:spTree>
    <p:extLst>
      <p:ext uri="{BB962C8B-B14F-4D97-AF65-F5344CB8AC3E}">
        <p14:creationId xmlns:p14="http://schemas.microsoft.com/office/powerpoint/2010/main" val="133188509"/>
      </p:ext>
    </p:extLst>
  </p:cSld>
</p:sld>
</file>

<file path=ppt/slides/slide5.xml><?xml version="1.0" encoding="utf-8"?>
<p:sld xmlns:p="http://schemas.openxmlformats.org/presentationml/2006/main">
  <p:cSld>
    <p:bg>
      <p:bgPr>
        <a:solidFill xmlns:a="http://schemas.openxmlformats.org/drawingml/2006/main">
          <a:srgbClr val="F7F8F5"/>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2043D88-1899-48AF-BA93-F43925EC9D73}"/>
              </a:ext>
            </a:extLst>
          </p:cNvPr>
          <p:cNvSpPr>
            <a:spLocks xmlns:a="http://schemas.openxmlformats.org/drawingml/2006/main" noGrp="1"/>
          </p:cNvSpPr>
          <p:nvPr/>
        </p:nvSpPr>
        <p:spPr>
          <a:xfrm xmlns:a="http://schemas.openxmlformats.org/drawingml/2006/main">
            <a:off x="723900" y="457200"/>
            <a:ext cx="107442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3300" b="1">
                <a:solidFill>
                  <a:srgbClr val="163345"/>
                </a:solidFill>
                <a:latin typeface="Arial"/>
                <a:ea typeface="Arial"/>
                <a:cs typeface="Arial"/>
              </a:defRPr>
            </a:pPr>
            <a:r>
              <a:rPr sz="3300" b="1">
                <a:solidFill>
                  <a:srgbClr val="163345"/>
                </a:solidFill>
                <a:latin typeface="Arial"/>
                <a:ea typeface="Arial"/>
                <a:cs typeface="Arial"/>
              </a:rPr>
              <a:t>Hold out test data before fitting</a:t>
            </a:r>
          </a:p>
        </p:txBody>
      </p:sp>
      <p:sp>
        <p:nvSpPr>
          <p:cNvPr id="2" name="">
            <a:extLst xmlns:a="http://schemas.openxmlformats.org/drawingml/2006/main">
              <a:ext uri="{FF2B5EF4-FFF2-40B4-BE49-F238E27FC236}">
                <a16:creationId xmlns:a16="http://schemas.microsoft.com/office/drawing/2014/main" id="{C1C58D71-C58F-4D23-B1E1-11A1CFF3FBC6}"/>
              </a:ext>
            </a:extLst>
          </p:cNvPr>
          <p:cNvSpPr>
            <a:spLocks xmlns:a="http://schemas.openxmlformats.org/drawingml/2006/main" noGrp="1"/>
          </p:cNvSpPr>
          <p:nvPr/>
        </p:nvSpPr>
        <p:spPr>
          <a:xfrm xmlns:a="http://schemas.openxmlformats.org/drawingml/2006/main">
            <a:off x="11049000" y="5953125"/>
            <a:ext cx="51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350" b="0">
                <a:solidFill>
                  <a:srgbClr val="536A77"/>
                </a:solidFill>
                <a:latin typeface="Arial"/>
                <a:ea typeface="Arial"/>
                <a:cs typeface="Arial"/>
              </a:defRPr>
            </a:pPr>
            <a:r>
              <a:rPr sz="1350" b="0">
                <a:solidFill>
                  <a:srgbClr val="536A77"/>
                </a:solidFill>
                <a:latin typeface="Arial"/>
                <a:ea typeface="Arial"/>
                <a:cs typeface="Arial"/>
              </a:rPr>
              <a:t>05</a:t>
            </a:r>
          </a:p>
        </p:txBody>
      </p:sp>
      <p:sp>
        <p:nvSpPr>
          <p:cNvPr id="3" name="">
            <a:extLst xmlns:a="http://schemas.openxmlformats.org/drawingml/2006/main">
              <a:ext uri="{FF2B5EF4-FFF2-40B4-BE49-F238E27FC236}">
                <a16:creationId xmlns:a16="http://schemas.microsoft.com/office/drawing/2014/main" id="{7D1C9EB2-CE59-4BE2-914E-9C29B729360F}"/>
              </a:ext>
            </a:extLst>
          </p:cNvPr>
          <p:cNvSpPr>
            <a:spLocks xmlns:a="http://schemas.openxmlformats.org/drawingml/2006/main" noGrp="1"/>
          </p:cNvSpPr>
          <p:nvPr/>
        </p:nvSpPr>
        <p:spPr>
          <a:xfrm xmlns:a="http://schemas.openxmlformats.org/drawingml/2006/main">
            <a:off x="914400" y="1666875"/>
            <a:ext cx="9810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2700" b="1">
                <a:solidFill>
                  <a:srgbClr val="163345"/>
                </a:solidFill>
                <a:latin typeface="Arial"/>
                <a:ea typeface="Arial"/>
                <a:cs typeface="Arial"/>
              </a:defRPr>
            </a:pPr>
            <a:r>
              <a:rPr sz="2700" b="1">
                <a:solidFill>
                  <a:srgbClr val="163345"/>
                </a:solidFill>
                <a:latin typeface="Arial"/>
                <a:ea typeface="Arial"/>
                <a:cs typeface="Arial"/>
              </a:rPr>
              <a:t>569 labeled samples</a:t>
            </a:r>
          </a:p>
        </p:txBody>
      </p:sp>
      <p:sp>
        <p:nvSpPr>
          <p:cNvPr id="4" name="">
            <a:extLst xmlns:a="http://schemas.openxmlformats.org/drawingml/2006/main">
              <a:ext uri="{FF2B5EF4-FFF2-40B4-BE49-F238E27FC236}">
                <a16:creationId xmlns:a16="http://schemas.microsoft.com/office/drawing/2014/main" id="{C7024483-49D5-4D41-A128-4A1E18337D4B}"/>
              </a:ext>
            </a:extLst>
          </p:cNvPr>
          <p:cNvSpPr>
            <a:spLocks xmlns:a="http://schemas.openxmlformats.org/drawingml/2006/main" noGrp="1"/>
          </p:cNvSpPr>
          <p:nvPr/>
        </p:nvSpPr>
        <p:spPr>
          <a:xfrm xmlns:a="http://schemas.openxmlformats.org/drawingml/2006/main">
            <a:off x="1000125" y="2762250"/>
            <a:ext cx="46196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2325" b="1">
                <a:solidFill>
                  <a:srgbClr val="167C80"/>
                </a:solidFill>
                <a:latin typeface="Arial"/>
                <a:ea typeface="Arial"/>
                <a:cs typeface="Arial"/>
              </a:defRPr>
            </a:pPr>
            <a:r>
              <a:rPr sz="2325" b="1">
                <a:solidFill>
                  <a:srgbClr val="167C80"/>
                </a:solidFill>
                <a:latin typeface="Arial"/>
                <a:ea typeface="Arial"/>
                <a:cs typeface="Arial"/>
              </a:rPr>
              <a:t>455 training samples  ·  80%</a:t>
            </a:r>
          </a:p>
        </p:txBody>
      </p:sp>
      <p:sp>
        <p:nvSpPr>
          <p:cNvPr id="5" name="">
            <a:extLst xmlns:a="http://schemas.openxmlformats.org/drawingml/2006/main">
              <a:ext uri="{FF2B5EF4-FFF2-40B4-BE49-F238E27FC236}">
                <a16:creationId xmlns:a16="http://schemas.microsoft.com/office/drawing/2014/main" id="{7E9A164C-DFDE-44D0-B411-06702ECB7912}"/>
              </a:ext>
            </a:extLst>
          </p:cNvPr>
          <p:cNvSpPr>
            <a:spLocks xmlns:a="http://schemas.openxmlformats.org/drawingml/2006/main" noGrp="1"/>
          </p:cNvSpPr>
          <p:nvPr/>
        </p:nvSpPr>
        <p:spPr>
          <a:xfrm xmlns:a="http://schemas.openxmlformats.org/drawingml/2006/main">
            <a:off x="6191250" y="2762250"/>
            <a:ext cx="4953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2325" b="1">
                <a:solidFill>
                  <a:srgbClr val="167C80"/>
                </a:solidFill>
                <a:latin typeface="Arial"/>
                <a:ea typeface="Arial"/>
                <a:cs typeface="Arial"/>
              </a:defRPr>
            </a:pPr>
            <a:r>
              <a:rPr sz="2325" b="1">
                <a:solidFill>
                  <a:srgbClr val="167C80"/>
                </a:solidFill>
                <a:latin typeface="Arial"/>
                <a:ea typeface="Arial"/>
                <a:cs typeface="Arial"/>
              </a:rPr>
              <a:t>114 held-out samples  ·  20%</a:t>
            </a:r>
          </a:p>
        </p:txBody>
      </p:sp>
      <p:sp>
        <p:nvSpPr>
          <p:cNvPr id="6" name="">
            <a:extLst xmlns:a="http://schemas.openxmlformats.org/drawingml/2006/main">
              <a:ext uri="{FF2B5EF4-FFF2-40B4-BE49-F238E27FC236}">
                <a16:creationId xmlns:a16="http://schemas.microsoft.com/office/drawing/2014/main" id="{2747A7E6-F46E-46C6-BCC6-7B03AA0486B7}"/>
              </a:ext>
            </a:extLst>
          </p:cNvPr>
          <p:cNvSpPr>
            <a:spLocks xmlns:a="http://schemas.openxmlformats.org/drawingml/2006/main" noGrp="1"/>
          </p:cNvSpPr>
          <p:nvPr/>
        </p:nvSpPr>
        <p:spPr>
          <a:xfrm xmlns:a="http://schemas.openxmlformats.org/drawingml/2006/main">
            <a:off x="1000125" y="4191000"/>
            <a:ext cx="9525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2025" b="0">
                <a:solidFill>
                  <a:srgbClr val="263D4B"/>
                </a:solidFill>
                <a:latin typeface="Arial"/>
                <a:ea typeface="Arial"/>
                <a:cs typeface="Arial"/>
              </a:defRPr>
            </a:pPr>
            <a:r>
              <a:rPr sz="2025" b="0">
                <a:solidFill>
                  <a:srgbClr val="263D4B"/>
                </a:solidFill>
                <a:latin typeface="Arial"/>
                <a:ea typeface="Arial"/>
                <a:cs typeface="Arial"/>
              </a:rPr>
              <a:t>Split is stratified by class  ·  random seed = 42</a:t>
            </a:r>
          </a:p>
        </p:txBody>
      </p:sp>
    </p:spTree>
    <p:extLst>
      <p:ext uri="{BB962C8B-B14F-4D97-AF65-F5344CB8AC3E}">
        <p14:creationId xmlns:p14="http://schemas.microsoft.com/office/powerpoint/2010/main" val="26771741"/>
      </p:ext>
    </p:extLst>
  </p:cSld>
</p:sld>
</file>

<file path=ppt/slides/slide6.xml><?xml version="1.0" encoding="utf-8"?>
<p:sld xmlns:p="http://schemas.openxmlformats.org/presentationml/2006/main">
  <p:cSld>
    <p:bg>
      <p:bgPr>
        <a:solidFill xmlns:a="http://schemas.openxmlformats.org/drawingml/2006/main">
          <a:srgbClr val="F7F8F5"/>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EC49172-1D1B-4AA8-AC43-7917D2774BFC}"/>
              </a:ext>
            </a:extLst>
          </p:cNvPr>
          <p:cNvSpPr>
            <a:spLocks xmlns:a="http://schemas.openxmlformats.org/drawingml/2006/main" noGrp="1"/>
          </p:cNvSpPr>
          <p:nvPr/>
        </p:nvSpPr>
        <p:spPr>
          <a:xfrm xmlns:a="http://schemas.openxmlformats.org/drawingml/2006/main">
            <a:off x="723900" y="457200"/>
            <a:ext cx="107442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3300" b="1">
                <a:solidFill>
                  <a:srgbClr val="163345"/>
                </a:solidFill>
                <a:latin typeface="Arial"/>
                <a:ea typeface="Arial"/>
                <a:cs typeface="Arial"/>
              </a:defRPr>
            </a:pPr>
            <a:r>
              <a:rPr sz="3300" b="1">
                <a:solidFill>
                  <a:srgbClr val="163345"/>
                </a:solidFill>
                <a:latin typeface="Arial"/>
                <a:ea typeface="Arial"/>
                <a:cs typeface="Arial"/>
              </a:rPr>
              <a:t>Fit a pipeline without leakage</a:t>
            </a:r>
          </a:p>
        </p:txBody>
      </p:sp>
      <p:sp>
        <p:nvSpPr>
          <p:cNvPr id="2" name="">
            <a:extLst xmlns:a="http://schemas.openxmlformats.org/drawingml/2006/main">
              <a:ext uri="{FF2B5EF4-FFF2-40B4-BE49-F238E27FC236}">
                <a16:creationId xmlns:a16="http://schemas.microsoft.com/office/drawing/2014/main" id="{F81FFF08-A76D-4BF5-844A-87C8182D1A66}"/>
              </a:ext>
            </a:extLst>
          </p:cNvPr>
          <p:cNvSpPr>
            <a:spLocks xmlns:a="http://schemas.openxmlformats.org/drawingml/2006/main" noGrp="1"/>
          </p:cNvSpPr>
          <p:nvPr/>
        </p:nvSpPr>
        <p:spPr>
          <a:xfrm xmlns:a="http://schemas.openxmlformats.org/drawingml/2006/main">
            <a:off x="11049000" y="5953125"/>
            <a:ext cx="51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350" b="0">
                <a:solidFill>
                  <a:srgbClr val="536A77"/>
                </a:solidFill>
                <a:latin typeface="Arial"/>
                <a:ea typeface="Arial"/>
                <a:cs typeface="Arial"/>
              </a:defRPr>
            </a:pPr>
            <a:r>
              <a:rPr sz="1350" b="0">
                <a:solidFill>
                  <a:srgbClr val="536A77"/>
                </a:solidFill>
                <a:latin typeface="Arial"/>
                <a:ea typeface="Arial"/>
                <a:cs typeface="Arial"/>
              </a:rPr>
              <a:t>06</a:t>
            </a:r>
          </a:p>
        </p:txBody>
      </p:sp>
      <p:sp>
        <p:nvSpPr>
          <p:cNvPr id="3" name="">
            <a:extLst xmlns:a="http://schemas.openxmlformats.org/drawingml/2006/main">
              <a:ext uri="{FF2B5EF4-FFF2-40B4-BE49-F238E27FC236}">
                <a16:creationId xmlns:a16="http://schemas.microsoft.com/office/drawing/2014/main" id="{D919C039-B41E-49DF-85CD-7E2182A10A51}"/>
              </a:ext>
            </a:extLst>
          </p:cNvPr>
          <p:cNvSpPr>
            <a:spLocks xmlns:a="http://schemas.openxmlformats.org/drawingml/2006/main" noGrp="1"/>
          </p:cNvSpPr>
          <p:nvPr/>
        </p:nvSpPr>
        <p:spPr>
          <a:xfrm xmlns:a="http://schemas.openxmlformats.org/drawingml/2006/main">
            <a:off x="904875" y="1809750"/>
            <a:ext cx="22383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2250" b="1">
                <a:solidFill>
                  <a:srgbClr val="163345"/>
                </a:solidFill>
                <a:latin typeface="Arial"/>
                <a:ea typeface="Arial"/>
                <a:cs typeface="Arial"/>
              </a:defRPr>
            </a:pPr>
            <a:r>
              <a:rPr sz="2250" b="1">
                <a:solidFill>
                  <a:srgbClr val="163345"/>
                </a:solidFill>
                <a:latin typeface="Arial"/>
                <a:ea typeface="Arial"/>
                <a:cs typeface="Arial"/>
              </a:rPr>
              <a:t>Training rows</a:t>
            </a:r>
          </a:p>
        </p:txBody>
      </p:sp>
      <p:sp>
        <p:nvSpPr>
          <p:cNvPr id="4" name="">
            <a:extLst xmlns:a="http://schemas.openxmlformats.org/drawingml/2006/main">
              <a:ext uri="{FF2B5EF4-FFF2-40B4-BE49-F238E27FC236}">
                <a16:creationId xmlns:a16="http://schemas.microsoft.com/office/drawing/2014/main" id="{924E11D9-3066-48ED-85E4-BCE71FE20AC6}"/>
              </a:ext>
            </a:extLst>
          </p:cNvPr>
          <p:cNvSpPr>
            <a:spLocks xmlns:a="http://schemas.openxmlformats.org/drawingml/2006/main" noGrp="1"/>
          </p:cNvSpPr>
          <p:nvPr/>
        </p:nvSpPr>
        <p:spPr>
          <a:xfrm xmlns:a="http://schemas.openxmlformats.org/drawingml/2006/main">
            <a:off x="3238500" y="18097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3300" b="1">
                <a:solidFill>
                  <a:srgbClr val="167C80"/>
                </a:solidFill>
                <a:latin typeface="Arial"/>
                <a:ea typeface="Arial"/>
                <a:cs typeface="Arial"/>
              </a:defRPr>
            </a:pPr>
            <a:r>
              <a:rPr sz="3300" b="1">
                <a:solidFill>
                  <a:srgbClr val="167C80"/>
                </a:solidFill>
                <a:latin typeface="Arial"/>
                <a:ea typeface="Arial"/>
                <a:cs typeface="Arial"/>
              </a:rPr>
              <a:t>→</a:t>
            </a:r>
          </a:p>
        </p:txBody>
      </p:sp>
      <p:sp>
        <p:nvSpPr>
          <p:cNvPr id="5" name="">
            <a:extLst xmlns:a="http://schemas.openxmlformats.org/drawingml/2006/main">
              <a:ext uri="{FF2B5EF4-FFF2-40B4-BE49-F238E27FC236}">
                <a16:creationId xmlns:a16="http://schemas.microsoft.com/office/drawing/2014/main" id="{6EB16228-004F-46AA-AA68-FFD081AB8A99}"/>
              </a:ext>
            </a:extLst>
          </p:cNvPr>
          <p:cNvSpPr>
            <a:spLocks xmlns:a="http://schemas.openxmlformats.org/drawingml/2006/main" noGrp="1"/>
          </p:cNvSpPr>
          <p:nvPr/>
        </p:nvSpPr>
        <p:spPr>
          <a:xfrm xmlns:a="http://schemas.openxmlformats.org/drawingml/2006/main">
            <a:off x="4143375" y="1809750"/>
            <a:ext cx="1809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2250" b="1">
                <a:solidFill>
                  <a:srgbClr val="163345"/>
                </a:solidFill>
                <a:latin typeface="Arial"/>
                <a:ea typeface="Arial"/>
                <a:cs typeface="Arial"/>
              </a:defRPr>
            </a:pPr>
            <a:r>
              <a:rPr sz="2250" b="1">
                <a:solidFill>
                  <a:srgbClr val="163345"/>
                </a:solidFill>
                <a:latin typeface="Arial"/>
                <a:ea typeface="Arial"/>
                <a:cs typeface="Arial"/>
              </a:rPr>
              <a:t>Scale</a:t>
            </a:r>
          </a:p>
        </p:txBody>
      </p:sp>
      <p:sp>
        <p:nvSpPr>
          <p:cNvPr id="6" name="">
            <a:extLst xmlns:a="http://schemas.openxmlformats.org/drawingml/2006/main">
              <a:ext uri="{FF2B5EF4-FFF2-40B4-BE49-F238E27FC236}">
                <a16:creationId xmlns:a16="http://schemas.microsoft.com/office/drawing/2014/main" id="{B59074AF-D1D2-4D1B-BAAC-BC4608499798}"/>
              </a:ext>
            </a:extLst>
          </p:cNvPr>
          <p:cNvSpPr>
            <a:spLocks xmlns:a="http://schemas.openxmlformats.org/drawingml/2006/main" noGrp="1"/>
          </p:cNvSpPr>
          <p:nvPr/>
        </p:nvSpPr>
        <p:spPr>
          <a:xfrm xmlns:a="http://schemas.openxmlformats.org/drawingml/2006/main">
            <a:off x="6048375" y="18097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3300" b="1">
                <a:solidFill>
                  <a:srgbClr val="167C80"/>
                </a:solidFill>
                <a:latin typeface="Arial"/>
                <a:ea typeface="Arial"/>
                <a:cs typeface="Arial"/>
              </a:defRPr>
            </a:pPr>
            <a:r>
              <a:rPr sz="3300" b="1">
                <a:solidFill>
                  <a:srgbClr val="167C80"/>
                </a:solidFill>
                <a:latin typeface="Arial"/>
                <a:ea typeface="Arial"/>
                <a:cs typeface="Arial"/>
              </a:rPr>
              <a:t>→</a:t>
            </a:r>
          </a:p>
        </p:txBody>
      </p:sp>
      <p:sp>
        <p:nvSpPr>
          <p:cNvPr id="7" name="">
            <a:extLst xmlns:a="http://schemas.openxmlformats.org/drawingml/2006/main">
              <a:ext uri="{FF2B5EF4-FFF2-40B4-BE49-F238E27FC236}">
                <a16:creationId xmlns:a16="http://schemas.microsoft.com/office/drawing/2014/main" id="{9870F020-318E-4244-84F4-4ED4554B9857}"/>
              </a:ext>
            </a:extLst>
          </p:cNvPr>
          <p:cNvSpPr>
            <a:spLocks xmlns:a="http://schemas.openxmlformats.org/drawingml/2006/main" noGrp="1"/>
          </p:cNvSpPr>
          <p:nvPr/>
        </p:nvSpPr>
        <p:spPr>
          <a:xfrm xmlns:a="http://schemas.openxmlformats.org/drawingml/2006/main">
            <a:off x="6905625" y="1809750"/>
            <a:ext cx="3714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2250" b="1">
                <a:solidFill>
                  <a:srgbClr val="163345"/>
                </a:solidFill>
                <a:latin typeface="Arial"/>
                <a:ea typeface="Arial"/>
                <a:cs typeface="Arial"/>
              </a:defRPr>
            </a:pPr>
            <a:r>
              <a:rPr sz="2250" b="1">
                <a:solidFill>
                  <a:srgbClr val="163345"/>
                </a:solidFill>
                <a:latin typeface="Arial"/>
                <a:ea typeface="Arial"/>
                <a:cs typeface="Arial"/>
              </a:rPr>
              <a:t>Logistic regression</a:t>
            </a:r>
          </a:p>
        </p:txBody>
      </p:sp>
      <p:sp>
        <p:nvSpPr>
          <p:cNvPr id="8" name="">
            <a:extLst xmlns:a="http://schemas.openxmlformats.org/drawingml/2006/main">
              <a:ext uri="{FF2B5EF4-FFF2-40B4-BE49-F238E27FC236}">
                <a16:creationId xmlns:a16="http://schemas.microsoft.com/office/drawing/2014/main" id="{071A2EDF-59EC-4CA5-869F-6B8CC2DFB6F9}"/>
              </a:ext>
            </a:extLst>
          </p:cNvPr>
          <p:cNvSpPr>
            <a:spLocks xmlns:a="http://schemas.openxmlformats.org/drawingml/2006/main" noGrp="1"/>
          </p:cNvSpPr>
          <p:nvPr/>
        </p:nvSpPr>
        <p:spPr>
          <a:xfrm xmlns:a="http://schemas.openxmlformats.org/drawingml/2006/main">
            <a:off x="952500" y="3429000"/>
            <a:ext cx="100012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2250" b="0">
                <a:solidFill>
                  <a:srgbClr val="263D4B"/>
                </a:solidFill>
                <a:latin typeface="Arial"/>
                <a:ea typeface="Arial"/>
                <a:cs typeface="Arial"/>
              </a:defRPr>
            </a:pPr>
            <a:r>
              <a:rPr sz="2250" b="0">
                <a:solidFill>
                  <a:srgbClr val="263D4B"/>
                </a:solidFill>
                <a:latin typeface="Arial"/>
                <a:ea typeface="Arial"/>
                <a:cs typeface="Arial"/>
              </a:rPr>
              <a:t>Keep scaling inside the Pipeline so test-set information cannot affect preprocessing.</a:t>
            </a:r>
          </a:p>
        </p:txBody>
      </p:sp>
    </p:spTree>
    <p:extLst>
      <p:ext uri="{BB962C8B-B14F-4D97-AF65-F5344CB8AC3E}">
        <p14:creationId xmlns:p14="http://schemas.microsoft.com/office/powerpoint/2010/main" val="523928370"/>
      </p:ext>
    </p:extLst>
  </p:cSld>
</p:sld>
</file>

<file path=ppt/slides/slide7.xml><?xml version="1.0" encoding="utf-8"?>
<p:sld xmlns:p="http://schemas.openxmlformats.org/presentationml/2006/main">
  <p:cSld>
    <p:bg>
      <p:bgPr>
        <a:solidFill xmlns:a="http://schemas.openxmlformats.org/drawingml/2006/main">
          <a:srgbClr val="F7F8F5"/>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FEDA30C-BE8F-45E5-8FF2-EEFC4FC826AB}"/>
              </a:ext>
            </a:extLst>
          </p:cNvPr>
          <p:cNvSpPr>
            <a:spLocks xmlns:a="http://schemas.openxmlformats.org/drawingml/2006/main" noGrp="1"/>
          </p:cNvSpPr>
          <p:nvPr/>
        </p:nvSpPr>
        <p:spPr>
          <a:xfrm xmlns:a="http://schemas.openxmlformats.org/drawingml/2006/main">
            <a:off x="723900" y="457200"/>
            <a:ext cx="107442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3300" b="1">
                <a:solidFill>
                  <a:srgbClr val="163345"/>
                </a:solidFill>
                <a:latin typeface="Arial"/>
                <a:ea typeface="Arial"/>
                <a:cs typeface="Arial"/>
              </a:defRPr>
            </a:pPr>
            <a:r>
              <a:rPr sz="3300" b="1">
                <a:solidFill>
                  <a:srgbClr val="163345"/>
                </a:solidFill>
                <a:latin typeface="Arial"/>
                <a:ea typeface="Arial"/>
                <a:cs typeface="Arial"/>
              </a:rPr>
              <a:t>Held-out performance at threshold 0.50</a:t>
            </a:r>
          </a:p>
        </p:txBody>
      </p:sp>
      <p:sp>
        <p:nvSpPr>
          <p:cNvPr id="2" name="">
            <a:extLst xmlns:a="http://schemas.openxmlformats.org/drawingml/2006/main">
              <a:ext uri="{FF2B5EF4-FFF2-40B4-BE49-F238E27FC236}">
                <a16:creationId xmlns:a16="http://schemas.microsoft.com/office/drawing/2014/main" id="{E52D39B4-7295-4D64-87B2-CD82EBA200D6}"/>
              </a:ext>
            </a:extLst>
          </p:cNvPr>
          <p:cNvSpPr>
            <a:spLocks xmlns:a="http://schemas.openxmlformats.org/drawingml/2006/main" noGrp="1"/>
          </p:cNvSpPr>
          <p:nvPr/>
        </p:nvSpPr>
        <p:spPr>
          <a:xfrm xmlns:a="http://schemas.openxmlformats.org/drawingml/2006/main">
            <a:off x="11049000" y="5953125"/>
            <a:ext cx="51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350" b="0">
                <a:solidFill>
                  <a:srgbClr val="536A77"/>
                </a:solidFill>
                <a:latin typeface="Arial"/>
                <a:ea typeface="Arial"/>
                <a:cs typeface="Arial"/>
              </a:defRPr>
            </a:pPr>
            <a:r>
              <a:rPr sz="1350" b="0">
                <a:solidFill>
                  <a:srgbClr val="536A77"/>
                </a:solidFill>
                <a:latin typeface="Arial"/>
                <a:ea typeface="Arial"/>
                <a:cs typeface="Arial"/>
              </a:rPr>
              <a:t>07</a:t>
            </a:r>
          </a:p>
        </p:txBody>
      </p:sp>
      <p:sp>
        <p:nvSpPr>
          <p:cNvPr id="3" name="">
            <a:extLst xmlns:a="http://schemas.openxmlformats.org/drawingml/2006/main">
              <a:ext uri="{FF2B5EF4-FFF2-40B4-BE49-F238E27FC236}">
                <a16:creationId xmlns:a16="http://schemas.microsoft.com/office/drawing/2014/main" id="{5EBF80F1-3E3B-4FDB-BA11-FDE32244FE0E}"/>
              </a:ext>
            </a:extLst>
          </p:cNvPr>
          <p:cNvSpPr>
            <a:spLocks xmlns:a="http://schemas.openxmlformats.org/drawingml/2006/main" noGrp="1"/>
          </p:cNvSpPr>
          <p:nvPr/>
        </p:nvSpPr>
        <p:spPr>
          <a:xfrm xmlns:a="http://schemas.openxmlformats.org/drawingml/2006/main">
            <a:off x="1000125" y="1714500"/>
            <a:ext cx="266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2025" b="0">
                <a:solidFill>
                  <a:srgbClr val="536A77"/>
                </a:solidFill>
                <a:latin typeface="Arial"/>
                <a:ea typeface="Arial"/>
                <a:cs typeface="Arial"/>
              </a:defRPr>
            </a:pPr>
            <a:r>
              <a:rPr sz="2025" b="0">
                <a:solidFill>
                  <a:srgbClr val="536A77"/>
                </a:solidFill>
                <a:latin typeface="Arial"/>
                <a:ea typeface="Arial"/>
                <a:cs typeface="Arial"/>
              </a:rPr>
              <a:t>Accuracy</a:t>
            </a:r>
          </a:p>
        </p:txBody>
      </p:sp>
      <p:sp>
        <p:nvSpPr>
          <p:cNvPr id="4" name="">
            <a:extLst xmlns:a="http://schemas.openxmlformats.org/drawingml/2006/main">
              <a:ext uri="{FF2B5EF4-FFF2-40B4-BE49-F238E27FC236}">
                <a16:creationId xmlns:a16="http://schemas.microsoft.com/office/drawing/2014/main" id="{222C6557-E3D9-4E38-B738-DDEED0576AAC}"/>
              </a:ext>
            </a:extLst>
          </p:cNvPr>
          <p:cNvSpPr>
            <a:spLocks xmlns:a="http://schemas.openxmlformats.org/drawingml/2006/main" noGrp="1"/>
          </p:cNvSpPr>
          <p:nvPr/>
        </p:nvSpPr>
        <p:spPr>
          <a:xfrm xmlns:a="http://schemas.openxmlformats.org/drawingml/2006/main">
            <a:off x="4095750" y="1666875"/>
            <a:ext cx="285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3150" b="1">
                <a:solidFill>
                  <a:srgbClr val="163345"/>
                </a:solidFill>
                <a:latin typeface="Arial"/>
                <a:ea typeface="Arial"/>
                <a:cs typeface="Arial"/>
              </a:defRPr>
            </a:pPr>
            <a:r>
              <a:rPr sz="3150" b="1">
                <a:solidFill>
                  <a:srgbClr val="163345"/>
                </a:solidFill>
                <a:latin typeface="Arial"/>
                <a:ea typeface="Arial"/>
                <a:cs typeface="Arial"/>
              </a:rPr>
              <a:t>96.5%</a:t>
            </a:r>
          </a:p>
        </p:txBody>
      </p:sp>
      <p:sp>
        <p:nvSpPr>
          <p:cNvPr id="5" name="">
            <a:extLst xmlns:a="http://schemas.openxmlformats.org/drawingml/2006/main">
              <a:ext uri="{FF2B5EF4-FFF2-40B4-BE49-F238E27FC236}">
                <a16:creationId xmlns:a16="http://schemas.microsoft.com/office/drawing/2014/main" id="{511F4DBD-27E8-4CA8-92F3-DE2284D4C055}"/>
              </a:ext>
            </a:extLst>
          </p:cNvPr>
          <p:cNvSpPr>
            <a:spLocks xmlns:a="http://schemas.openxmlformats.org/drawingml/2006/main" noGrp="1"/>
          </p:cNvSpPr>
          <p:nvPr/>
        </p:nvSpPr>
        <p:spPr>
          <a:xfrm xmlns:a="http://schemas.openxmlformats.org/drawingml/2006/main">
            <a:off x="1000125" y="2571750"/>
            <a:ext cx="266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2025" b="0">
                <a:solidFill>
                  <a:srgbClr val="536A77"/>
                </a:solidFill>
                <a:latin typeface="Arial"/>
                <a:ea typeface="Arial"/>
                <a:cs typeface="Arial"/>
              </a:defRPr>
            </a:pPr>
            <a:r>
              <a:rPr sz="2025" b="0">
                <a:solidFill>
                  <a:srgbClr val="536A77"/>
                </a:solidFill>
                <a:latin typeface="Arial"/>
                <a:ea typeface="Arial"/>
                <a:cs typeface="Arial"/>
              </a:rPr>
              <a:t>Sensitivity</a:t>
            </a:r>
          </a:p>
        </p:txBody>
      </p:sp>
      <p:sp>
        <p:nvSpPr>
          <p:cNvPr id="6" name="">
            <a:extLst xmlns:a="http://schemas.openxmlformats.org/drawingml/2006/main">
              <a:ext uri="{FF2B5EF4-FFF2-40B4-BE49-F238E27FC236}">
                <a16:creationId xmlns:a16="http://schemas.microsoft.com/office/drawing/2014/main" id="{CB958969-5292-48B2-8F73-DF397C7D5CE5}"/>
              </a:ext>
            </a:extLst>
          </p:cNvPr>
          <p:cNvSpPr>
            <a:spLocks xmlns:a="http://schemas.openxmlformats.org/drawingml/2006/main" noGrp="1"/>
          </p:cNvSpPr>
          <p:nvPr/>
        </p:nvSpPr>
        <p:spPr>
          <a:xfrm xmlns:a="http://schemas.openxmlformats.org/drawingml/2006/main">
            <a:off x="4095750" y="2524125"/>
            <a:ext cx="61912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2550" b="1">
                <a:solidFill>
                  <a:srgbClr val="167C80"/>
                </a:solidFill>
                <a:latin typeface="Arial"/>
                <a:ea typeface="Arial"/>
                <a:cs typeface="Arial"/>
              </a:defRPr>
            </a:pPr>
            <a:r>
              <a:rPr sz="2550" b="1">
                <a:solidFill>
                  <a:srgbClr val="167C80"/>
                </a:solidFill>
                <a:latin typeface="Arial"/>
                <a:ea typeface="Arial"/>
                <a:cs typeface="Arial"/>
              </a:rPr>
              <a:t>92.9%  ·  39 / 42 malignant</a:t>
            </a:r>
          </a:p>
        </p:txBody>
      </p:sp>
      <p:sp>
        <p:nvSpPr>
          <p:cNvPr id="7" name="">
            <a:extLst xmlns:a="http://schemas.openxmlformats.org/drawingml/2006/main">
              <a:ext uri="{FF2B5EF4-FFF2-40B4-BE49-F238E27FC236}">
                <a16:creationId xmlns:a16="http://schemas.microsoft.com/office/drawing/2014/main" id="{A5D2DB4C-DD70-40F0-8BE7-7996F113AC7C}"/>
              </a:ext>
            </a:extLst>
          </p:cNvPr>
          <p:cNvSpPr>
            <a:spLocks xmlns:a="http://schemas.openxmlformats.org/drawingml/2006/main" noGrp="1"/>
          </p:cNvSpPr>
          <p:nvPr/>
        </p:nvSpPr>
        <p:spPr>
          <a:xfrm xmlns:a="http://schemas.openxmlformats.org/drawingml/2006/main">
            <a:off x="1000125" y="3429000"/>
            <a:ext cx="266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2025" b="0">
                <a:solidFill>
                  <a:srgbClr val="536A77"/>
                </a:solidFill>
                <a:latin typeface="Arial"/>
                <a:ea typeface="Arial"/>
                <a:cs typeface="Arial"/>
              </a:defRPr>
            </a:pPr>
            <a:r>
              <a:rPr sz="2025" b="0">
                <a:solidFill>
                  <a:srgbClr val="536A77"/>
                </a:solidFill>
                <a:latin typeface="Arial"/>
                <a:ea typeface="Arial"/>
                <a:cs typeface="Arial"/>
              </a:rPr>
              <a:t>Specificity</a:t>
            </a:r>
          </a:p>
        </p:txBody>
      </p:sp>
      <p:sp>
        <p:nvSpPr>
          <p:cNvPr id="8" name="">
            <a:extLst xmlns:a="http://schemas.openxmlformats.org/drawingml/2006/main">
              <a:ext uri="{FF2B5EF4-FFF2-40B4-BE49-F238E27FC236}">
                <a16:creationId xmlns:a16="http://schemas.microsoft.com/office/drawing/2014/main" id="{301FBBF9-DDB4-4855-9DBA-46D9E1059873}"/>
              </a:ext>
            </a:extLst>
          </p:cNvPr>
          <p:cNvSpPr>
            <a:spLocks xmlns:a="http://schemas.openxmlformats.org/drawingml/2006/main" noGrp="1"/>
          </p:cNvSpPr>
          <p:nvPr/>
        </p:nvSpPr>
        <p:spPr>
          <a:xfrm xmlns:a="http://schemas.openxmlformats.org/drawingml/2006/main">
            <a:off x="4095750" y="3381375"/>
            <a:ext cx="61912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2550" b="1">
                <a:solidFill>
                  <a:srgbClr val="167C80"/>
                </a:solidFill>
                <a:latin typeface="Arial"/>
                <a:ea typeface="Arial"/>
                <a:cs typeface="Arial"/>
              </a:defRPr>
            </a:pPr>
            <a:r>
              <a:rPr sz="2550" b="1">
                <a:solidFill>
                  <a:srgbClr val="167C80"/>
                </a:solidFill>
                <a:latin typeface="Arial"/>
                <a:ea typeface="Arial"/>
                <a:cs typeface="Arial"/>
              </a:rPr>
              <a:t>98.6%  ·  71 / 72 benign</a:t>
            </a:r>
          </a:p>
        </p:txBody>
      </p:sp>
      <p:sp>
        <p:nvSpPr>
          <p:cNvPr id="9" name="">
            <a:extLst xmlns:a="http://schemas.openxmlformats.org/drawingml/2006/main">
              <a:ext uri="{FF2B5EF4-FFF2-40B4-BE49-F238E27FC236}">
                <a16:creationId xmlns:a16="http://schemas.microsoft.com/office/drawing/2014/main" id="{71F8B696-5F19-4321-AEE8-3924A08607DC}"/>
              </a:ext>
            </a:extLst>
          </p:cNvPr>
          <p:cNvSpPr>
            <a:spLocks xmlns:a="http://schemas.openxmlformats.org/drawingml/2006/main" noGrp="1"/>
          </p:cNvSpPr>
          <p:nvPr/>
        </p:nvSpPr>
        <p:spPr>
          <a:xfrm xmlns:a="http://schemas.openxmlformats.org/drawingml/2006/main">
            <a:off x="1000125" y="4524375"/>
            <a:ext cx="9525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950" b="0">
                <a:solidFill>
                  <a:srgbClr val="263D4B"/>
                </a:solidFill>
                <a:latin typeface="Arial"/>
                <a:ea typeface="Arial"/>
                <a:cs typeface="Arial"/>
              </a:defRPr>
            </a:pPr>
            <a:r>
              <a:rPr sz="1950" b="0">
                <a:solidFill>
                  <a:srgbClr val="263D4B"/>
                </a:solidFill>
                <a:latin typeface="Arial"/>
                <a:ea typeface="Arial"/>
                <a:cs typeface="Arial"/>
              </a:rPr>
              <a:t>ROC AUC  0.996  ·  ranks samples across thresholds</a:t>
            </a:r>
          </a:p>
        </p:txBody>
      </p:sp>
    </p:spTree>
    <p:extLst>
      <p:ext uri="{BB962C8B-B14F-4D97-AF65-F5344CB8AC3E}">
        <p14:creationId xmlns:p14="http://schemas.microsoft.com/office/powerpoint/2010/main" val="1456378000"/>
      </p:ext>
    </p:extLst>
  </p:cSld>
</p:sld>
</file>

<file path=ppt/slides/slide8.xml><?xml version="1.0" encoding="utf-8"?>
<p:sld xmlns:p="http://schemas.openxmlformats.org/presentationml/2006/main">
  <p:cSld>
    <p:bg>
      <p:bgPr>
        <a:solidFill xmlns:a="http://schemas.openxmlformats.org/drawingml/2006/main">
          <a:srgbClr val="F7F8F5"/>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05E7DE88-BE00-4C28-8777-F86B0FD0D96F}"/>
              </a:ext>
            </a:extLst>
          </p:cNvPr>
          <p:cNvSpPr>
            <a:spLocks xmlns:a="http://schemas.openxmlformats.org/drawingml/2006/main" noGrp="1"/>
          </p:cNvSpPr>
          <p:nvPr/>
        </p:nvSpPr>
        <p:spPr>
          <a:xfrm xmlns:a="http://schemas.openxmlformats.org/drawingml/2006/main">
            <a:off x="723900" y="457200"/>
            <a:ext cx="107442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3300" b="1">
                <a:solidFill>
                  <a:srgbClr val="163345"/>
                </a:solidFill>
                <a:latin typeface="Arial"/>
                <a:ea typeface="Arial"/>
                <a:cs typeface="Arial"/>
              </a:defRPr>
            </a:pPr>
            <a:r>
              <a:rPr sz="3300" b="1">
                <a:solidFill>
                  <a:srgbClr val="163345"/>
                </a:solidFill>
                <a:latin typeface="Arial"/>
                <a:ea typeface="Arial"/>
                <a:cs typeface="Arial"/>
              </a:rPr>
              <a:t>Read the errors, not only the score</a:t>
            </a:r>
          </a:p>
        </p:txBody>
      </p:sp>
      <p:sp>
        <p:nvSpPr>
          <p:cNvPr id="2" name="">
            <a:extLst xmlns:a="http://schemas.openxmlformats.org/drawingml/2006/main">
              <a:ext uri="{FF2B5EF4-FFF2-40B4-BE49-F238E27FC236}">
                <a16:creationId xmlns:a16="http://schemas.microsoft.com/office/drawing/2014/main" id="{0E6DBE32-2691-4FD7-BFEA-390C5BDA031B}"/>
              </a:ext>
            </a:extLst>
          </p:cNvPr>
          <p:cNvSpPr>
            <a:spLocks xmlns:a="http://schemas.openxmlformats.org/drawingml/2006/main" noGrp="1"/>
          </p:cNvSpPr>
          <p:nvPr/>
        </p:nvSpPr>
        <p:spPr>
          <a:xfrm xmlns:a="http://schemas.openxmlformats.org/drawingml/2006/main">
            <a:off x="11049000" y="5953125"/>
            <a:ext cx="51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350" b="0">
                <a:solidFill>
                  <a:srgbClr val="536A77"/>
                </a:solidFill>
                <a:latin typeface="Arial"/>
                <a:ea typeface="Arial"/>
                <a:cs typeface="Arial"/>
              </a:defRPr>
            </a:pPr>
            <a:r>
              <a:rPr sz="1350" b="0">
                <a:solidFill>
                  <a:srgbClr val="536A77"/>
                </a:solidFill>
                <a:latin typeface="Arial"/>
                <a:ea typeface="Arial"/>
                <a:cs typeface="Arial"/>
              </a:rPr>
              <a:t>08</a:t>
            </a:r>
          </a:p>
        </p:txBody>
      </p:sp>
      <p:sp>
        <p:nvSpPr>
          <p:cNvPr id="3" name="">
            <a:extLst xmlns:a="http://schemas.openxmlformats.org/drawingml/2006/main">
              <a:ext uri="{FF2B5EF4-FFF2-40B4-BE49-F238E27FC236}">
                <a16:creationId xmlns:a16="http://schemas.microsoft.com/office/drawing/2014/main" id="{01D7CD26-BAD0-4148-A1F1-CC87CD0B0ABA}"/>
              </a:ext>
            </a:extLst>
          </p:cNvPr>
          <p:cNvSpPr>
            <a:spLocks xmlns:a="http://schemas.openxmlformats.org/drawingml/2006/main" noGrp="1"/>
          </p:cNvSpPr>
          <p:nvPr/>
        </p:nvSpPr>
        <p:spPr>
          <a:xfrm xmlns:a="http://schemas.openxmlformats.org/drawingml/2006/main">
            <a:off x="1047750" y="1762125"/>
            <a:ext cx="304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800" b="1">
                <a:solidFill>
                  <a:srgbClr val="536A77"/>
                </a:solidFill>
                <a:latin typeface="Arial"/>
                <a:ea typeface="Arial"/>
                <a:cs typeface="Arial"/>
              </a:defRPr>
            </a:pPr>
            <a:r>
              <a:rPr sz="1800" b="1">
                <a:solidFill>
                  <a:srgbClr val="536A77"/>
                </a:solidFill>
                <a:latin typeface="Arial"/>
                <a:ea typeface="Arial"/>
                <a:cs typeface="Arial"/>
              </a:rPr>
              <a:t>Actual class</a:t>
            </a:r>
          </a:p>
        </p:txBody>
      </p:sp>
      <p:sp>
        <p:nvSpPr>
          <p:cNvPr id="4" name="">
            <a:extLst xmlns:a="http://schemas.openxmlformats.org/drawingml/2006/main">
              <a:ext uri="{FF2B5EF4-FFF2-40B4-BE49-F238E27FC236}">
                <a16:creationId xmlns:a16="http://schemas.microsoft.com/office/drawing/2014/main" id="{14BC99C2-FED1-445F-8699-BCFC2EB5096A}"/>
              </a:ext>
            </a:extLst>
          </p:cNvPr>
          <p:cNvSpPr>
            <a:spLocks xmlns:a="http://schemas.openxmlformats.org/drawingml/2006/main" noGrp="1"/>
          </p:cNvSpPr>
          <p:nvPr/>
        </p:nvSpPr>
        <p:spPr>
          <a:xfrm xmlns:a="http://schemas.openxmlformats.org/drawingml/2006/main">
            <a:off x="4953000" y="1762125"/>
            <a:ext cx="2667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800" b="1">
                <a:solidFill>
                  <a:srgbClr val="536A77"/>
                </a:solidFill>
                <a:latin typeface="Arial"/>
                <a:ea typeface="Arial"/>
                <a:cs typeface="Arial"/>
              </a:defRPr>
            </a:pPr>
            <a:r>
              <a:rPr sz="1800" b="1">
                <a:solidFill>
                  <a:srgbClr val="536A77"/>
                </a:solidFill>
                <a:latin typeface="Arial"/>
                <a:ea typeface="Arial"/>
                <a:cs typeface="Arial"/>
              </a:rPr>
              <a:t>Predicted benign</a:t>
            </a:r>
          </a:p>
        </p:txBody>
      </p:sp>
      <p:sp>
        <p:nvSpPr>
          <p:cNvPr id="5" name="">
            <a:extLst xmlns:a="http://schemas.openxmlformats.org/drawingml/2006/main">
              <a:ext uri="{FF2B5EF4-FFF2-40B4-BE49-F238E27FC236}">
                <a16:creationId xmlns:a16="http://schemas.microsoft.com/office/drawing/2014/main" id="{EA58FD8F-886B-49F5-B3BA-4CA8EE43B8AE}"/>
              </a:ext>
            </a:extLst>
          </p:cNvPr>
          <p:cNvSpPr>
            <a:spLocks xmlns:a="http://schemas.openxmlformats.org/drawingml/2006/main" noGrp="1"/>
          </p:cNvSpPr>
          <p:nvPr/>
        </p:nvSpPr>
        <p:spPr>
          <a:xfrm xmlns:a="http://schemas.openxmlformats.org/drawingml/2006/main">
            <a:off x="8096250" y="1762125"/>
            <a:ext cx="314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800" b="1">
                <a:solidFill>
                  <a:srgbClr val="536A77"/>
                </a:solidFill>
                <a:latin typeface="Arial"/>
                <a:ea typeface="Arial"/>
                <a:cs typeface="Arial"/>
              </a:defRPr>
            </a:pPr>
            <a:r>
              <a:rPr sz="1800" b="1">
                <a:solidFill>
                  <a:srgbClr val="536A77"/>
                </a:solidFill>
                <a:latin typeface="Arial"/>
                <a:ea typeface="Arial"/>
                <a:cs typeface="Arial"/>
              </a:rPr>
              <a:t>Predicted malignant</a:t>
            </a:r>
          </a:p>
        </p:txBody>
      </p:sp>
      <p:sp>
        <p:nvSpPr>
          <p:cNvPr id="6" name="">
            <a:extLst xmlns:a="http://schemas.openxmlformats.org/drawingml/2006/main">
              <a:ext uri="{FF2B5EF4-FFF2-40B4-BE49-F238E27FC236}">
                <a16:creationId xmlns:a16="http://schemas.microsoft.com/office/drawing/2014/main" id="{12C56E9F-DB2F-4AF9-9B47-D7184D09BC06}"/>
              </a:ext>
            </a:extLst>
          </p:cNvPr>
          <p:cNvSpPr>
            <a:spLocks xmlns:a="http://schemas.openxmlformats.org/drawingml/2006/main" noGrp="1"/>
          </p:cNvSpPr>
          <p:nvPr/>
        </p:nvSpPr>
        <p:spPr>
          <a:xfrm xmlns:a="http://schemas.openxmlformats.org/drawingml/2006/main">
            <a:off x="1047750" y="2762250"/>
            <a:ext cx="28575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2400" b="1">
                <a:solidFill>
                  <a:srgbClr val="163345"/>
                </a:solidFill>
                <a:latin typeface="Arial"/>
                <a:ea typeface="Arial"/>
                <a:cs typeface="Arial"/>
              </a:defRPr>
            </a:pPr>
            <a:r>
              <a:rPr sz="2400" b="1">
                <a:solidFill>
                  <a:srgbClr val="163345"/>
                </a:solidFill>
                <a:latin typeface="Arial"/>
                <a:ea typeface="Arial"/>
                <a:cs typeface="Arial"/>
              </a:rPr>
              <a:t>Benign</a:t>
            </a:r>
          </a:p>
        </p:txBody>
      </p:sp>
      <p:sp>
        <p:nvSpPr>
          <p:cNvPr id="7" name="">
            <a:extLst xmlns:a="http://schemas.openxmlformats.org/drawingml/2006/main">
              <a:ext uri="{FF2B5EF4-FFF2-40B4-BE49-F238E27FC236}">
                <a16:creationId xmlns:a16="http://schemas.microsoft.com/office/drawing/2014/main" id="{BD3FCA57-6AD4-4F83-95AA-7724F6D6F8B1}"/>
              </a:ext>
            </a:extLst>
          </p:cNvPr>
          <p:cNvSpPr>
            <a:spLocks xmlns:a="http://schemas.openxmlformats.org/drawingml/2006/main" noGrp="1"/>
          </p:cNvSpPr>
          <p:nvPr/>
        </p:nvSpPr>
        <p:spPr>
          <a:xfrm xmlns:a="http://schemas.openxmlformats.org/drawingml/2006/main">
            <a:off x="5334000" y="2714625"/>
            <a:ext cx="1333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3450" b="1">
                <a:solidFill>
                  <a:srgbClr val="167C80"/>
                </a:solidFill>
                <a:latin typeface="Arial"/>
                <a:ea typeface="Arial"/>
                <a:cs typeface="Arial"/>
              </a:defRPr>
            </a:pPr>
            <a:r>
              <a:rPr sz="3450" b="1">
                <a:solidFill>
                  <a:srgbClr val="167C80"/>
                </a:solidFill>
                <a:latin typeface="Arial"/>
                <a:ea typeface="Arial"/>
                <a:cs typeface="Arial"/>
              </a:rPr>
              <a:t>71</a:t>
            </a:r>
          </a:p>
        </p:txBody>
      </p:sp>
      <p:sp>
        <p:nvSpPr>
          <p:cNvPr id="8" name="">
            <a:extLst xmlns:a="http://schemas.openxmlformats.org/drawingml/2006/main">
              <a:ext uri="{FF2B5EF4-FFF2-40B4-BE49-F238E27FC236}">
                <a16:creationId xmlns:a16="http://schemas.microsoft.com/office/drawing/2014/main" id="{10B17209-0D88-4A5C-BC13-26758E344AEB}"/>
              </a:ext>
            </a:extLst>
          </p:cNvPr>
          <p:cNvSpPr>
            <a:spLocks xmlns:a="http://schemas.openxmlformats.org/drawingml/2006/main" noGrp="1"/>
          </p:cNvSpPr>
          <p:nvPr/>
        </p:nvSpPr>
        <p:spPr>
          <a:xfrm xmlns:a="http://schemas.openxmlformats.org/drawingml/2006/main">
            <a:off x="8096250" y="2762250"/>
            <a:ext cx="2952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2025" b="0">
                <a:solidFill>
                  <a:srgbClr val="B3543C"/>
                </a:solidFill>
                <a:latin typeface="Arial"/>
                <a:ea typeface="Arial"/>
                <a:cs typeface="Arial"/>
              </a:defRPr>
            </a:pPr>
            <a:r>
              <a:rPr sz="2025" b="0">
                <a:solidFill>
                  <a:srgbClr val="B3543C"/>
                </a:solidFill>
                <a:latin typeface="Arial"/>
                <a:ea typeface="Arial"/>
                <a:cs typeface="Arial"/>
              </a:rPr>
              <a:t>1 false positive</a:t>
            </a:r>
          </a:p>
        </p:txBody>
      </p:sp>
      <p:sp>
        <p:nvSpPr>
          <p:cNvPr id="9" name="">
            <a:extLst xmlns:a="http://schemas.openxmlformats.org/drawingml/2006/main">
              <a:ext uri="{FF2B5EF4-FFF2-40B4-BE49-F238E27FC236}">
                <a16:creationId xmlns:a16="http://schemas.microsoft.com/office/drawing/2014/main" id="{52CD76AF-3994-431E-B4F2-BA1EE463A24B}"/>
              </a:ext>
            </a:extLst>
          </p:cNvPr>
          <p:cNvSpPr>
            <a:spLocks xmlns:a="http://schemas.openxmlformats.org/drawingml/2006/main" noGrp="1"/>
          </p:cNvSpPr>
          <p:nvPr/>
        </p:nvSpPr>
        <p:spPr>
          <a:xfrm xmlns:a="http://schemas.openxmlformats.org/drawingml/2006/main">
            <a:off x="1047750" y="3857625"/>
            <a:ext cx="28575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2400" b="1">
                <a:solidFill>
                  <a:srgbClr val="163345"/>
                </a:solidFill>
                <a:latin typeface="Arial"/>
                <a:ea typeface="Arial"/>
                <a:cs typeface="Arial"/>
              </a:defRPr>
            </a:pPr>
            <a:r>
              <a:rPr sz="2400" b="1">
                <a:solidFill>
                  <a:srgbClr val="163345"/>
                </a:solidFill>
                <a:latin typeface="Arial"/>
                <a:ea typeface="Arial"/>
                <a:cs typeface="Arial"/>
              </a:rPr>
              <a:t>Malignant</a:t>
            </a:r>
          </a:p>
        </p:txBody>
      </p:sp>
      <p:sp>
        <p:nvSpPr>
          <p:cNvPr id="10" name="">
            <a:extLst xmlns:a="http://schemas.openxmlformats.org/drawingml/2006/main">
              <a:ext uri="{FF2B5EF4-FFF2-40B4-BE49-F238E27FC236}">
                <a16:creationId xmlns:a16="http://schemas.microsoft.com/office/drawing/2014/main" id="{40BDB97A-29DA-4FF7-BBDF-9217AA98692F}"/>
              </a:ext>
            </a:extLst>
          </p:cNvPr>
          <p:cNvSpPr>
            <a:spLocks xmlns:a="http://schemas.openxmlformats.org/drawingml/2006/main" noGrp="1"/>
          </p:cNvSpPr>
          <p:nvPr/>
        </p:nvSpPr>
        <p:spPr>
          <a:xfrm xmlns:a="http://schemas.openxmlformats.org/drawingml/2006/main">
            <a:off x="4953000" y="3857625"/>
            <a:ext cx="2667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2025" b="0">
                <a:solidFill>
                  <a:srgbClr val="B3543C"/>
                </a:solidFill>
                <a:latin typeface="Arial"/>
                <a:ea typeface="Arial"/>
                <a:cs typeface="Arial"/>
              </a:defRPr>
            </a:pPr>
            <a:r>
              <a:rPr sz="2025" b="0">
                <a:solidFill>
                  <a:srgbClr val="B3543C"/>
                </a:solidFill>
                <a:latin typeface="Arial"/>
                <a:ea typeface="Arial"/>
                <a:cs typeface="Arial"/>
              </a:rPr>
              <a:t>3 false negatives</a:t>
            </a:r>
          </a:p>
        </p:txBody>
      </p:sp>
      <p:sp>
        <p:nvSpPr>
          <p:cNvPr id="11" name="">
            <a:extLst xmlns:a="http://schemas.openxmlformats.org/drawingml/2006/main">
              <a:ext uri="{FF2B5EF4-FFF2-40B4-BE49-F238E27FC236}">
                <a16:creationId xmlns:a16="http://schemas.microsoft.com/office/drawing/2014/main" id="{4CE25C71-6223-4A51-9F8A-1AE43E655014}"/>
              </a:ext>
            </a:extLst>
          </p:cNvPr>
          <p:cNvSpPr>
            <a:spLocks xmlns:a="http://schemas.openxmlformats.org/drawingml/2006/main" noGrp="1"/>
          </p:cNvSpPr>
          <p:nvPr/>
        </p:nvSpPr>
        <p:spPr>
          <a:xfrm xmlns:a="http://schemas.openxmlformats.org/drawingml/2006/main">
            <a:off x="8572500" y="3810000"/>
            <a:ext cx="1333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3450" b="1">
                <a:solidFill>
                  <a:srgbClr val="167C80"/>
                </a:solidFill>
                <a:latin typeface="Arial"/>
                <a:ea typeface="Arial"/>
                <a:cs typeface="Arial"/>
              </a:defRPr>
            </a:pPr>
            <a:r>
              <a:rPr sz="3450" b="1">
                <a:solidFill>
                  <a:srgbClr val="167C80"/>
                </a:solidFill>
                <a:latin typeface="Arial"/>
                <a:ea typeface="Arial"/>
                <a:cs typeface="Arial"/>
              </a:rPr>
              <a:t>39</a:t>
            </a:r>
          </a:p>
        </p:txBody>
      </p:sp>
    </p:spTree>
    <p:extLst>
      <p:ext uri="{BB962C8B-B14F-4D97-AF65-F5344CB8AC3E}">
        <p14:creationId xmlns:p14="http://schemas.microsoft.com/office/powerpoint/2010/main" val="1801896260"/>
      </p:ext>
    </p:extLst>
  </p:cSld>
</p:sld>
</file>

<file path=ppt/slides/slide9.xml><?xml version="1.0" encoding="utf-8"?>
<p:sld xmlns:p="http://schemas.openxmlformats.org/presentationml/2006/main">
  <p:cSld>
    <p:bg>
      <p:bgPr>
        <a:solidFill xmlns:a="http://schemas.openxmlformats.org/drawingml/2006/main">
          <a:srgbClr val="F7F8F5"/>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EFDDA59E-09B2-410C-B41B-EF393515BBC4}"/>
              </a:ext>
            </a:extLst>
          </p:cNvPr>
          <p:cNvSpPr>
            <a:spLocks xmlns:a="http://schemas.openxmlformats.org/drawingml/2006/main" noGrp="1"/>
          </p:cNvSpPr>
          <p:nvPr/>
        </p:nvSpPr>
        <p:spPr>
          <a:xfrm xmlns:a="http://schemas.openxmlformats.org/drawingml/2006/main">
            <a:off x="723900" y="457200"/>
            <a:ext cx="107442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3300" b="1">
                <a:solidFill>
                  <a:srgbClr val="163345"/>
                </a:solidFill>
                <a:latin typeface="Arial"/>
                <a:ea typeface="Arial"/>
                <a:cs typeface="Arial"/>
              </a:defRPr>
            </a:pPr>
            <a:r>
              <a:rPr sz="3300" b="1">
                <a:solidFill>
                  <a:srgbClr val="163345"/>
                </a:solidFill>
                <a:latin typeface="Arial"/>
                <a:ea typeface="Arial"/>
                <a:cs typeface="Arial"/>
              </a:rPr>
              <a:t>Model coefficients are not causes</a:t>
            </a:r>
          </a:p>
        </p:txBody>
      </p:sp>
      <p:sp>
        <p:nvSpPr>
          <p:cNvPr id="2" name="">
            <a:extLst xmlns:a="http://schemas.openxmlformats.org/drawingml/2006/main">
              <a:ext uri="{FF2B5EF4-FFF2-40B4-BE49-F238E27FC236}">
                <a16:creationId xmlns:a16="http://schemas.microsoft.com/office/drawing/2014/main" id="{FB466E1D-ACCD-4CFD-AFEF-408ED8C9CED7}"/>
              </a:ext>
            </a:extLst>
          </p:cNvPr>
          <p:cNvSpPr>
            <a:spLocks xmlns:a="http://schemas.openxmlformats.org/drawingml/2006/main" noGrp="1"/>
          </p:cNvSpPr>
          <p:nvPr/>
        </p:nvSpPr>
        <p:spPr>
          <a:xfrm xmlns:a="http://schemas.openxmlformats.org/drawingml/2006/main">
            <a:off x="11049000" y="5953125"/>
            <a:ext cx="51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350" b="0">
                <a:solidFill>
                  <a:srgbClr val="536A77"/>
                </a:solidFill>
                <a:latin typeface="Arial"/>
                <a:ea typeface="Arial"/>
                <a:cs typeface="Arial"/>
              </a:defRPr>
            </a:pPr>
            <a:r>
              <a:rPr sz="1350" b="0">
                <a:solidFill>
                  <a:srgbClr val="536A77"/>
                </a:solidFill>
                <a:latin typeface="Arial"/>
                <a:ea typeface="Arial"/>
                <a:cs typeface="Arial"/>
              </a:rPr>
              <a:t>09</a:t>
            </a:r>
          </a:p>
        </p:txBody>
      </p:sp>
      <p:sp>
        <p:nvSpPr>
          <p:cNvPr id="3" name="">
            <a:extLst xmlns:a="http://schemas.openxmlformats.org/drawingml/2006/main">
              <a:ext uri="{FF2B5EF4-FFF2-40B4-BE49-F238E27FC236}">
                <a16:creationId xmlns:a16="http://schemas.microsoft.com/office/drawing/2014/main" id="{38947CFF-6DCA-4038-B5DC-6663E7DF3984}"/>
              </a:ext>
            </a:extLst>
          </p:cNvPr>
          <p:cNvSpPr>
            <a:spLocks xmlns:a="http://schemas.openxmlformats.org/drawingml/2006/main" noGrp="1"/>
          </p:cNvSpPr>
          <p:nvPr/>
        </p:nvSpPr>
        <p:spPr>
          <a:xfrm xmlns:a="http://schemas.openxmlformats.org/drawingml/2006/main">
            <a:off x="952500" y="1809750"/>
            <a:ext cx="10001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2925" b="1">
                <a:solidFill>
                  <a:srgbClr val="163345"/>
                </a:solidFill>
                <a:latin typeface="Arial"/>
                <a:ea typeface="Arial"/>
                <a:cs typeface="Arial"/>
              </a:defRPr>
            </a:pPr>
            <a:r>
              <a:rPr sz="2925" b="1">
                <a:solidFill>
                  <a:srgbClr val="163345"/>
                </a:solidFill>
                <a:latin typeface="Arial"/>
                <a:ea typeface="Arial"/>
                <a:cs typeface="Arial"/>
              </a:rPr>
              <a:t>Inspect outputs/coefficients.csv</a:t>
            </a:r>
          </a:p>
        </p:txBody>
      </p:sp>
      <p:sp>
        <p:nvSpPr>
          <p:cNvPr id="4" name="">
            <a:extLst xmlns:a="http://schemas.openxmlformats.org/drawingml/2006/main">
              <a:ext uri="{FF2B5EF4-FFF2-40B4-BE49-F238E27FC236}">
                <a16:creationId xmlns:a16="http://schemas.microsoft.com/office/drawing/2014/main" id="{F6F63048-FC83-41A6-8564-25D35F566583}"/>
              </a:ext>
            </a:extLst>
          </p:cNvPr>
          <p:cNvSpPr>
            <a:spLocks xmlns:a="http://schemas.openxmlformats.org/drawingml/2006/main" noGrp="1"/>
          </p:cNvSpPr>
          <p:nvPr/>
        </p:nvSpPr>
        <p:spPr>
          <a:xfrm xmlns:a="http://schemas.openxmlformats.org/drawingml/2006/main">
            <a:off x="1000125" y="2857500"/>
            <a:ext cx="10001250" cy="2190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2025" b="0">
                <a:solidFill>
                  <a:srgbClr val="263D4B"/>
                </a:solidFill>
                <a:latin typeface="Arial"/>
                <a:ea typeface="Arial"/>
                <a:cs typeface="Arial"/>
              </a:defRPr>
            </a:pPr>
            <a:r>
              <a:rPr sz="2025" b="0">
                <a:solidFill>
                  <a:srgbClr val="263D4B"/>
                </a:solidFill>
                <a:latin typeface="Arial"/>
                <a:ea typeface="Arial"/>
                <a:cs typeface="Arial"/>
              </a:rPr>
              <a:t>Ranked standardized weights can help explain what the model used.</a:t>
            </a:r>
          </a:p>
          <a:p xmlns:a="http://schemas.openxmlformats.org/drawingml/2006/main">
            <a:r>
              <a:t/>
            </a:r>
          </a:p>
          <a:p xmlns:a="http://schemas.openxmlformats.org/drawingml/2006/main">
            <a:pPr>
              <a:defRPr sz="2025" b="0">
                <a:solidFill>
                  <a:srgbClr val="263D4B"/>
                </a:solidFill>
                <a:latin typeface="Arial"/>
                <a:ea typeface="Arial"/>
                <a:cs typeface="Arial"/>
              </a:defRPr>
            </a:pPr>
            <a:r>
              <a:rPr sz="2025" b="0">
                <a:solidFill>
                  <a:srgbClr val="263D4B"/>
                </a:solidFill>
                <a:latin typeface="Arial"/>
                <a:ea typeface="Arial"/>
                <a:cs typeface="Arial"/>
              </a:rPr>
              <a:t>They do not establish biological cause, causal risk, or a medical mechanism.</a:t>
            </a:r>
          </a:p>
          <a:p xmlns:a="http://schemas.openxmlformats.org/drawingml/2006/main">
            <a:r>
              <a:t/>
            </a:r>
          </a:p>
          <a:p xmlns:a="http://schemas.openxmlformats.org/drawingml/2006/main">
            <a:pPr>
              <a:defRPr sz="2025" b="0">
                <a:solidFill>
                  <a:srgbClr val="263D4B"/>
                </a:solidFill>
                <a:latin typeface="Arial"/>
                <a:ea typeface="Arial"/>
                <a:cs typeface="Arial"/>
              </a:defRPr>
            </a:pPr>
            <a:r>
              <a:rPr sz="2025" b="0">
                <a:solidFill>
                  <a:srgbClr val="263D4B"/>
                </a:solidFill>
                <a:latin typeface="Arial"/>
                <a:ea typeface="Arial"/>
                <a:cs typeface="Arial"/>
              </a:rPr>
              <a:t>For correlated measurements, a coefficient can change when other features or samples change.</a:t>
            </a:r>
          </a:p>
        </p:txBody>
      </p:sp>
    </p:spTree>
    <p:extLst>
      <p:ext uri="{BB962C8B-B14F-4D97-AF65-F5344CB8AC3E}">
        <p14:creationId xmlns:p14="http://schemas.microsoft.com/office/powerpoint/2010/main" val="887478802"/>
      </p:ext>
    </p:extLst>
  </p:cSld>
</p:sld>
</file>

<file path=ppt/slides/slide10.xml><?xml version="1.0" encoding="utf-8"?>
<p:sld xmlns:p="http://schemas.openxmlformats.org/presentationml/2006/main">
  <p:cSld>
    <p:bg>
      <p:bgPr>
        <a:solidFill xmlns:a="http://schemas.openxmlformats.org/drawingml/2006/main">
          <a:srgbClr val="F7F8F5"/>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4988BA51-BDAC-481F-941F-D6A2F28C9539}"/>
              </a:ext>
            </a:extLst>
          </p:cNvPr>
          <p:cNvSpPr>
            <a:spLocks xmlns:a="http://schemas.openxmlformats.org/drawingml/2006/main" noGrp="1"/>
          </p:cNvSpPr>
          <p:nvPr/>
        </p:nvSpPr>
        <p:spPr>
          <a:xfrm xmlns:a="http://schemas.openxmlformats.org/drawingml/2006/main">
            <a:off x="723900" y="457200"/>
            <a:ext cx="107442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3300" b="1">
                <a:solidFill>
                  <a:srgbClr val="163345"/>
                </a:solidFill>
                <a:latin typeface="Arial"/>
                <a:ea typeface="Arial"/>
                <a:cs typeface="Arial"/>
              </a:defRPr>
            </a:pPr>
            <a:r>
              <a:rPr sz="3300" b="1">
                <a:solidFill>
                  <a:srgbClr val="163345"/>
                </a:solidFill>
                <a:latin typeface="Arial"/>
                <a:ea typeface="Arial"/>
                <a:cs typeface="Arial"/>
              </a:rPr>
              <a:t>What this experiment cannot establish</a:t>
            </a:r>
          </a:p>
        </p:txBody>
      </p:sp>
      <p:sp>
        <p:nvSpPr>
          <p:cNvPr id="2" name="">
            <a:extLst xmlns:a="http://schemas.openxmlformats.org/drawingml/2006/main">
              <a:ext uri="{FF2B5EF4-FFF2-40B4-BE49-F238E27FC236}">
                <a16:creationId xmlns:a16="http://schemas.microsoft.com/office/drawing/2014/main" id="{F36B0288-BF2E-4D6C-A076-D52A48BC5C0B}"/>
              </a:ext>
            </a:extLst>
          </p:cNvPr>
          <p:cNvSpPr>
            <a:spLocks xmlns:a="http://schemas.openxmlformats.org/drawingml/2006/main" noGrp="1"/>
          </p:cNvSpPr>
          <p:nvPr/>
        </p:nvSpPr>
        <p:spPr>
          <a:xfrm xmlns:a="http://schemas.openxmlformats.org/drawingml/2006/main">
            <a:off x="11049000" y="5953125"/>
            <a:ext cx="51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350" b="0">
                <a:solidFill>
                  <a:srgbClr val="536A77"/>
                </a:solidFill>
                <a:latin typeface="Arial"/>
                <a:ea typeface="Arial"/>
                <a:cs typeface="Arial"/>
              </a:defRPr>
            </a:pPr>
            <a:r>
              <a:rPr sz="1350" b="0">
                <a:solidFill>
                  <a:srgbClr val="536A77"/>
                </a:solidFill>
                <a:latin typeface="Arial"/>
                <a:ea typeface="Arial"/>
                <a:cs typeface="Arial"/>
              </a:rPr>
              <a:t>10</a:t>
            </a:r>
          </a:p>
        </p:txBody>
      </p:sp>
      <p:sp>
        <p:nvSpPr>
          <p:cNvPr id="3" name="">
            <a:extLst xmlns:a="http://schemas.openxmlformats.org/drawingml/2006/main">
              <a:ext uri="{FF2B5EF4-FFF2-40B4-BE49-F238E27FC236}">
                <a16:creationId xmlns:a16="http://schemas.microsoft.com/office/drawing/2014/main" id="{072DB08F-C4BE-4FCB-82DA-0F805971D02E}"/>
              </a:ext>
            </a:extLst>
          </p:cNvPr>
          <p:cNvSpPr>
            <a:spLocks xmlns:a="http://schemas.openxmlformats.org/drawingml/2006/main" noGrp="1"/>
          </p:cNvSpPr>
          <p:nvPr/>
        </p:nvSpPr>
        <p:spPr>
          <a:xfrm xmlns:a="http://schemas.openxmlformats.org/drawingml/2006/main">
            <a:off x="952500" y="1666875"/>
            <a:ext cx="100012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2625" b="1">
                <a:solidFill>
                  <a:srgbClr val="163345"/>
                </a:solidFill>
                <a:latin typeface="Arial"/>
                <a:ea typeface="Arial"/>
                <a:cs typeface="Arial"/>
              </a:defRPr>
            </a:pPr>
            <a:r>
              <a:rPr sz="2625" b="1">
                <a:solidFill>
                  <a:srgbClr val="163345"/>
                </a:solidFill>
                <a:latin typeface="Arial"/>
                <a:ea typeface="Arial"/>
                <a:cs typeface="Arial"/>
              </a:rPr>
              <a:t>One small historical dataset</a:t>
            </a:r>
          </a:p>
        </p:txBody>
      </p:sp>
      <p:sp>
        <p:nvSpPr>
          <p:cNvPr id="4" name="">
            <a:extLst xmlns:a="http://schemas.openxmlformats.org/drawingml/2006/main">
              <a:ext uri="{FF2B5EF4-FFF2-40B4-BE49-F238E27FC236}">
                <a16:creationId xmlns:a16="http://schemas.microsoft.com/office/drawing/2014/main" id="{47F63933-56E5-4C77-B358-CF4E23294DEE}"/>
              </a:ext>
            </a:extLst>
          </p:cNvPr>
          <p:cNvSpPr>
            <a:spLocks xmlns:a="http://schemas.openxmlformats.org/drawingml/2006/main" noGrp="1"/>
          </p:cNvSpPr>
          <p:nvPr/>
        </p:nvSpPr>
        <p:spPr>
          <a:xfrm xmlns:a="http://schemas.openxmlformats.org/drawingml/2006/main">
            <a:off x="1028700" y="2762250"/>
            <a:ext cx="10001250" cy="2381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2100" b="0">
                <a:solidFill>
                  <a:srgbClr val="263D4B"/>
                </a:solidFill>
                <a:latin typeface="Arial"/>
                <a:ea typeface="Arial"/>
                <a:cs typeface="Arial"/>
              </a:defRPr>
            </a:pPr>
            <a:r>
              <a:rPr sz="2100" b="0">
                <a:solidFill>
                  <a:srgbClr val="263D4B"/>
                </a:solidFill>
                <a:latin typeface="Arial"/>
                <a:ea typeface="Arial"/>
                <a:cs typeface="Arial"/>
              </a:rPr>
              <a:t>No external hospital validation</a:t>
            </a:r>
          </a:p>
          <a:p xmlns:a="http://schemas.openxmlformats.org/drawingml/2006/main">
            <a:pPr>
              <a:defRPr sz="2100" b="0">
                <a:solidFill>
                  <a:srgbClr val="263D4B"/>
                </a:solidFill>
                <a:latin typeface="Arial"/>
                <a:ea typeface="Arial"/>
                <a:cs typeface="Arial"/>
              </a:defRPr>
            </a:pPr>
            <a:r>
              <a:rPr sz="2100" b="0">
                <a:solidFill>
                  <a:srgbClr val="263D4B"/>
                </a:solidFill>
                <a:latin typeface="Arial"/>
                <a:ea typeface="Arial"/>
                <a:cs typeface="Arial"/>
              </a:rPr>
              <a:t>No calibration or subgroup audit</a:t>
            </a:r>
          </a:p>
          <a:p xmlns:a="http://schemas.openxmlformats.org/drawingml/2006/main">
            <a:pPr>
              <a:defRPr sz="2100" b="0">
                <a:solidFill>
                  <a:srgbClr val="263D4B"/>
                </a:solidFill>
                <a:latin typeface="Arial"/>
                <a:ea typeface="Arial"/>
                <a:cs typeface="Arial"/>
              </a:defRPr>
            </a:pPr>
            <a:r>
              <a:rPr sz="2100" b="0">
                <a:solidFill>
                  <a:srgbClr val="263D4B"/>
                </a:solidFill>
                <a:latin typeface="Arial"/>
                <a:ea typeface="Arial"/>
                <a:cs typeface="Arial"/>
              </a:rPr>
              <a:t>No prospective workflow or patient-outcome study</a:t>
            </a:r>
          </a:p>
          <a:p xmlns:a="http://schemas.openxmlformats.org/drawingml/2006/main">
            <a:pPr>
              <a:defRPr sz="2100" b="0">
                <a:solidFill>
                  <a:srgbClr val="263D4B"/>
                </a:solidFill>
                <a:latin typeface="Arial"/>
                <a:ea typeface="Arial"/>
                <a:cs typeface="Arial"/>
              </a:defRPr>
            </a:pPr>
            <a:r>
              <a:rPr sz="2100" b="0">
                <a:solidFill>
                  <a:srgbClr val="263D4B"/>
                </a:solidFill>
                <a:latin typeface="Arial"/>
                <a:ea typeface="Arial"/>
                <a:cs typeface="Arial"/>
              </a:rPr>
              <a:t>No clinical threshold or decision-impact evidence</a:t>
            </a:r>
          </a:p>
        </p:txBody>
      </p:sp>
      <p:sp>
        <p:nvSpPr>
          <p:cNvPr id="5" name="">
            <a:extLst xmlns:a="http://schemas.openxmlformats.org/drawingml/2006/main">
              <a:ext uri="{FF2B5EF4-FFF2-40B4-BE49-F238E27FC236}">
                <a16:creationId xmlns:a16="http://schemas.microsoft.com/office/drawing/2014/main" id="{6D064CC6-3BCA-41FE-B179-3B9694B7D41E}"/>
              </a:ext>
            </a:extLst>
          </p:cNvPr>
          <p:cNvSpPr>
            <a:spLocks xmlns:a="http://schemas.openxmlformats.org/drawingml/2006/main" noGrp="1"/>
          </p:cNvSpPr>
          <p:nvPr/>
        </p:nvSpPr>
        <p:spPr>
          <a:xfrm xmlns:a="http://schemas.openxmlformats.org/drawingml/2006/main">
            <a:off x="1028700" y="5476875"/>
            <a:ext cx="9810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2025" b="1">
                <a:solidFill>
                  <a:srgbClr val="B3543C"/>
                </a:solidFill>
                <a:latin typeface="Arial"/>
                <a:ea typeface="Arial"/>
                <a:cs typeface="Arial"/>
              </a:defRPr>
            </a:pPr>
            <a:r>
              <a:rPr sz="2025" b="1">
                <a:solidFill>
                  <a:srgbClr val="B3543C"/>
                </a:solidFill>
                <a:latin typeface="Arial"/>
                <a:ea typeface="Arial"/>
                <a:cs typeface="Arial"/>
              </a:rPr>
              <a:t>Do not use the model for patient care.</a:t>
            </a:r>
          </a:p>
        </p:txBody>
      </p:sp>
    </p:spTree>
    <p:extLst>
      <p:ext uri="{BB962C8B-B14F-4D97-AF65-F5344CB8AC3E}">
        <p14:creationId xmlns:p14="http://schemas.microsoft.com/office/powerpoint/2010/main" val="1345260062"/>
      </p:ext>
    </p:extLst>
  </p:cSld>
</p:sld>
</file>

<file path=ppt/slides/slide11.xml><?xml version="1.0" encoding="utf-8"?>
<p:sld xmlns:p="http://schemas.openxmlformats.org/presentationml/2006/main">
  <p:cSld>
    <p:bg>
      <p:bgPr>
        <a:solidFill xmlns:a="http://schemas.openxmlformats.org/drawingml/2006/main">
          <a:srgbClr val="F7F8F5"/>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224B06C-B252-45AA-A2E3-7BAD7F7E8244}"/>
              </a:ext>
            </a:extLst>
          </p:cNvPr>
          <p:cNvSpPr>
            <a:spLocks xmlns:a="http://schemas.openxmlformats.org/drawingml/2006/main" noGrp="1"/>
          </p:cNvSpPr>
          <p:nvPr/>
        </p:nvSpPr>
        <p:spPr>
          <a:xfrm xmlns:a="http://schemas.openxmlformats.org/drawingml/2006/main">
            <a:off x="723900" y="457200"/>
            <a:ext cx="107442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3300" b="1">
                <a:solidFill>
                  <a:srgbClr val="163345"/>
                </a:solidFill>
                <a:latin typeface="Arial"/>
                <a:ea typeface="Arial"/>
                <a:cs typeface="Arial"/>
              </a:defRPr>
            </a:pPr>
            <a:r>
              <a:rPr sz="3300" b="1">
                <a:solidFill>
                  <a:srgbClr val="163345"/>
                </a:solidFill>
                <a:latin typeface="Arial"/>
                <a:ea typeface="Arial"/>
                <a:cs typeface="Arial"/>
              </a:rPr>
              <a:t>Replicate, then critique</a:t>
            </a:r>
          </a:p>
        </p:txBody>
      </p:sp>
      <p:sp>
        <p:nvSpPr>
          <p:cNvPr id="2" name="">
            <a:extLst xmlns:a="http://schemas.openxmlformats.org/drawingml/2006/main">
              <a:ext uri="{FF2B5EF4-FFF2-40B4-BE49-F238E27FC236}">
                <a16:creationId xmlns:a16="http://schemas.microsoft.com/office/drawing/2014/main" id="{0C436839-C806-4211-A489-8C58F480B59A}"/>
              </a:ext>
            </a:extLst>
          </p:cNvPr>
          <p:cNvSpPr>
            <a:spLocks xmlns:a="http://schemas.openxmlformats.org/drawingml/2006/main" noGrp="1"/>
          </p:cNvSpPr>
          <p:nvPr/>
        </p:nvSpPr>
        <p:spPr>
          <a:xfrm xmlns:a="http://schemas.openxmlformats.org/drawingml/2006/main">
            <a:off x="11049000" y="5953125"/>
            <a:ext cx="51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350" b="0">
                <a:solidFill>
                  <a:srgbClr val="536A77"/>
                </a:solidFill>
                <a:latin typeface="Arial"/>
                <a:ea typeface="Arial"/>
                <a:cs typeface="Arial"/>
              </a:defRPr>
            </a:pPr>
            <a:r>
              <a:rPr sz="1350" b="0">
                <a:solidFill>
                  <a:srgbClr val="536A77"/>
                </a:solidFill>
                <a:latin typeface="Arial"/>
                <a:ea typeface="Arial"/>
                <a:cs typeface="Arial"/>
              </a:rPr>
              <a:t>11</a:t>
            </a:r>
          </a:p>
        </p:txBody>
      </p:sp>
      <p:sp>
        <p:nvSpPr>
          <p:cNvPr id="3" name="">
            <a:extLst xmlns:a="http://schemas.openxmlformats.org/drawingml/2006/main">
              <a:ext uri="{FF2B5EF4-FFF2-40B4-BE49-F238E27FC236}">
                <a16:creationId xmlns:a16="http://schemas.microsoft.com/office/drawing/2014/main" id="{04E33596-F67E-48DD-9DE6-E32B353C580B}"/>
              </a:ext>
            </a:extLst>
          </p:cNvPr>
          <p:cNvSpPr>
            <a:spLocks xmlns:a="http://schemas.openxmlformats.org/drawingml/2006/main" noGrp="1"/>
          </p:cNvSpPr>
          <p:nvPr/>
        </p:nvSpPr>
        <p:spPr>
          <a:xfrm xmlns:a="http://schemas.openxmlformats.org/drawingml/2006/main">
            <a:off x="1000125" y="1571625"/>
            <a:ext cx="9715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2100" b="0">
                <a:solidFill>
                  <a:srgbClr val="263D4B"/>
                </a:solidFill>
                <a:latin typeface="Arial"/>
                <a:ea typeface="Arial"/>
                <a:cs typeface="Arial"/>
              </a:defRPr>
            </a:pPr>
            <a:r>
              <a:rPr sz="2100" b="0">
                <a:solidFill>
                  <a:srgbClr val="263D4B"/>
                </a:solidFill>
                <a:latin typeface="Arial"/>
                <a:ea typeface="Arial"/>
                <a:cs typeface="Arial"/>
              </a:rPr>
              <a:t>1  Install the project dependencies</a:t>
            </a:r>
          </a:p>
        </p:txBody>
      </p:sp>
      <p:sp>
        <p:nvSpPr>
          <p:cNvPr id="4" name="">
            <a:extLst xmlns:a="http://schemas.openxmlformats.org/drawingml/2006/main">
              <a:ext uri="{FF2B5EF4-FFF2-40B4-BE49-F238E27FC236}">
                <a16:creationId xmlns:a16="http://schemas.microsoft.com/office/drawing/2014/main" id="{B6C39566-DA0F-432A-948C-5836A507B981}"/>
              </a:ext>
            </a:extLst>
          </p:cNvPr>
          <p:cNvSpPr>
            <a:spLocks xmlns:a="http://schemas.openxmlformats.org/drawingml/2006/main" noGrp="1"/>
          </p:cNvSpPr>
          <p:nvPr/>
        </p:nvSpPr>
        <p:spPr>
          <a:xfrm xmlns:a="http://schemas.openxmlformats.org/drawingml/2006/main">
            <a:off x="1000125" y="2333625"/>
            <a:ext cx="9715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2100" b="0">
                <a:solidFill>
                  <a:srgbClr val="263D4B"/>
                </a:solidFill>
                <a:latin typeface="Arial"/>
                <a:ea typeface="Arial"/>
                <a:cs typeface="Arial"/>
              </a:defRPr>
            </a:pPr>
            <a:r>
              <a:rPr sz="2100" b="0">
                <a:solidFill>
                  <a:srgbClr val="263D4B"/>
                </a:solidFill>
                <a:latin typeface="Arial"/>
                <a:ea typeface="Arial"/>
                <a:cs typeface="Arial"/>
              </a:rPr>
              <a:t>2  Run python src/analyze.py twice</a:t>
            </a:r>
          </a:p>
        </p:txBody>
      </p:sp>
      <p:sp>
        <p:nvSpPr>
          <p:cNvPr id="5" name="">
            <a:extLst xmlns:a="http://schemas.openxmlformats.org/drawingml/2006/main">
              <a:ext uri="{FF2B5EF4-FFF2-40B4-BE49-F238E27FC236}">
                <a16:creationId xmlns:a16="http://schemas.microsoft.com/office/drawing/2014/main" id="{F299D5A0-726F-4C39-A8F3-B550801340CC}"/>
              </a:ext>
            </a:extLst>
          </p:cNvPr>
          <p:cNvSpPr>
            <a:spLocks xmlns:a="http://schemas.openxmlformats.org/drawingml/2006/main" noGrp="1"/>
          </p:cNvSpPr>
          <p:nvPr/>
        </p:nvSpPr>
        <p:spPr>
          <a:xfrm xmlns:a="http://schemas.openxmlformats.org/drawingml/2006/main">
            <a:off x="1000125" y="3095625"/>
            <a:ext cx="9715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2100" b="0">
                <a:solidFill>
                  <a:srgbClr val="263D4B"/>
                </a:solidFill>
                <a:latin typeface="Arial"/>
                <a:ea typeface="Arial"/>
                <a:cs typeface="Arial"/>
              </a:defRPr>
            </a:pPr>
            <a:r>
              <a:rPr sz="2100" b="0">
                <a:solidFill>
                  <a:srgbClr val="263D4B"/>
                </a:solidFill>
                <a:latin typeface="Arial"/>
                <a:ea typeface="Arial"/>
                <a:cs typeface="Arial"/>
              </a:rPr>
              <a:t>3  Change the seed and compare the test metrics</a:t>
            </a:r>
          </a:p>
        </p:txBody>
      </p:sp>
      <p:sp>
        <p:nvSpPr>
          <p:cNvPr id="6" name="">
            <a:extLst xmlns:a="http://schemas.openxmlformats.org/drawingml/2006/main">
              <a:ext uri="{FF2B5EF4-FFF2-40B4-BE49-F238E27FC236}">
                <a16:creationId xmlns:a16="http://schemas.microsoft.com/office/drawing/2014/main" id="{4B898989-3739-41DB-BAB9-CC71A568BDE8}"/>
              </a:ext>
            </a:extLst>
          </p:cNvPr>
          <p:cNvSpPr>
            <a:spLocks xmlns:a="http://schemas.openxmlformats.org/drawingml/2006/main" noGrp="1"/>
          </p:cNvSpPr>
          <p:nvPr/>
        </p:nvSpPr>
        <p:spPr>
          <a:xfrm xmlns:a="http://schemas.openxmlformats.org/drawingml/2006/main">
            <a:off x="1000125" y="3857625"/>
            <a:ext cx="9715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2100" b="0">
                <a:solidFill>
                  <a:srgbClr val="263D4B"/>
                </a:solidFill>
                <a:latin typeface="Arial"/>
                <a:ea typeface="Arial"/>
                <a:cs typeface="Arial"/>
              </a:defRPr>
            </a:pPr>
            <a:r>
              <a:rPr sz="2100" b="0">
                <a:solidFill>
                  <a:srgbClr val="263D4B"/>
                </a:solidFill>
                <a:latin typeface="Arial"/>
                <a:ea typeface="Arial"/>
                <a:cs typeface="Arial"/>
              </a:rPr>
              <a:t>4  Explain why replication is not clinical validation</a:t>
            </a:r>
          </a:p>
        </p:txBody>
      </p:sp>
      <p:sp>
        <p:nvSpPr>
          <p:cNvPr id="7" name="">
            <a:extLst xmlns:a="http://schemas.openxmlformats.org/drawingml/2006/main">
              <a:ext uri="{FF2B5EF4-FFF2-40B4-BE49-F238E27FC236}">
                <a16:creationId xmlns:a16="http://schemas.microsoft.com/office/drawing/2014/main" id="{ADEC7E48-20AB-45AC-A7F3-10FA072F57A7}"/>
              </a:ext>
            </a:extLst>
          </p:cNvPr>
          <p:cNvSpPr>
            <a:spLocks xmlns:a="http://schemas.openxmlformats.org/drawingml/2006/main" noGrp="1"/>
          </p:cNvSpPr>
          <p:nvPr/>
        </p:nvSpPr>
        <p:spPr>
          <a:xfrm xmlns:a="http://schemas.openxmlformats.org/drawingml/2006/main">
            <a:off x="1000125" y="5095875"/>
            <a:ext cx="10001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725" b="1">
                <a:solidFill>
                  <a:srgbClr val="167C80"/>
                </a:solidFill>
                <a:latin typeface="Arial"/>
                <a:ea typeface="Arial"/>
                <a:cs typeface="Arial"/>
              </a:defRPr>
            </a:pPr>
            <a:r>
              <a:rPr sz="1725" b="1">
                <a:solidFill>
                  <a:srgbClr val="167C80"/>
                </a:solidFill>
                <a:latin typeface="Arial"/>
                <a:ea typeface="Arial"/>
                <a:cs typeface="Arial"/>
              </a:rPr>
              <a:t>Project notebook: notebooks/breast_cancer_tutorial.ipynb</a:t>
            </a:r>
          </a:p>
        </p:txBody>
      </p:sp>
    </p:spTree>
    <p:extLst>
      <p:ext uri="{BB962C8B-B14F-4D97-AF65-F5344CB8AC3E}">
        <p14:creationId xmlns:p14="http://schemas.microsoft.com/office/powerpoint/2010/main" val="71676508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2026-09-29T01:25:41.9630000Z</dcterms:created>
  <dcterms:modified xsi:type="dcterms:W3CDTF">2026-09-29T01:25:41.9630000Z</dcterms:modified>
</coreProperties>
</file>